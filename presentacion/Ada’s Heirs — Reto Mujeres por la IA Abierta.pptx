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Instrument Sans" pitchFamily="34" charset="0"/>
      <p:regular r:id="rId25"/>
      <p:bold r:id="rId26"/>
      <p:italic r:id="rId27"/>
      <p:boldItalic r:id="rId28"/>
    </p:embeddedFont>
    <p:embeddedFont>
      <p:font typeface="Courier Prime" panose="00000509000000000000" pitchFamily="49" charset="0"/>
      <p:regular r:id="rId29"/>
      <p:bold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font" Target="fonts/font1.fntdata"/><Relationship Id="rId26" Type="http://schemas.openxmlformats.org/officeDocument/2006/relationships/font" Target="fonts/font2.fntdata"/><Relationship Id="rId27" Type="http://schemas.openxmlformats.org/officeDocument/2006/relationships/font" Target="fonts/font3.fntdata"/><Relationship Id="rId28" Type="http://schemas.openxmlformats.org/officeDocument/2006/relationships/font" Target="fonts/font4.fntdata"/><Relationship Id="rId29" Type="http://schemas.openxmlformats.org/officeDocument/2006/relationships/font" Target="fonts/font5.fntdata"/><Relationship Id="rId30"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Kyara, Judith y Luna, de La Salle. Ada’s Heirs es un sistema de IA abierto que analiza películas y mide cuánto aparecen las mujeres y con qué protagonismo.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 problema: medir de forma automática, abierta y reproducible la presencia y el protagonismo de las mujeres en el cine. Pensamos en cuatro tipos de usuarios: filmotecas y archivos, festivales y premios, productoras y plataformas, e investigadoras y docentes.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métrica es la presencia de las mujeres: qué porcentaje de las personas que aparecen son mujeres y qué porcentaje del tiempo en pantalla les corresponde. Para eso el sistema detecta a todas las personas y estima en cada una si es una mujer; cuando no está seguro, no fuerza una etiqueta y la deja como no determinada.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segunda métrica responde a si las mujeres son protagonistas. Cada persona recibe un índice de 0 a 1 que combina cinco cosas: el tiempo en pantalla, el tamaño en el plano, si aparece sola, si está en el centro y si aparece al principio o al final. Así respondemos a la pregunta del reto de si quien está en el centro es la protagonista: el centro cuenta, pero no lo es todo. A partir de 0,5 la persona es protagonista, y medimos qué porcentaje de las protagonistas son mujeres. Los pesos están en un archivo de configuración y se pueden cambiar.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Trabajamos con 17 largometrajes de 1925 a 1968, de la colección Feature Films de Internet Archive. Primero, cumplen la licencia: son de dominio público y anteriores a 1970, cuando ese dominio público es más fiable. Segundo, son variadas: mudas y sonoras, en blanco y negro y en color, de géneros y repartos distintos, como The Blood of Jesus, de cineasta y reparto afroamericanos. Y tercero, con condiciones: ninguna tiene protagonistas menores de edad y no redistribuimos los vídeos, solo estadísticas. Es un estudio de caso: cine clásico estadounidense, no todo el cine.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funciona el sistema, de la película al informe. Primero detecta los cortes de plano; después encuentra a las personas y las sigue dentro de cada plano. Luego analiza sus caras para estimar si son mujeres, y vota una sola etiqueta por persona a lo largo del plano, que es mucho más fiable que un fotograma suelto. Con eso calcula la presencia y el protagonismo, y al final una persona revisa y valida el resultado. Herramientas: PySceneDetect para los planos, Faster R-CNN de torchvision para las personas, ByteTrack para el seguimiento e InsightFace para las caras; todo modelos abiertos que se cambian en un archivo de configuración.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decisiones clave. El cine en blanco y negro rompía la detección de planos, así que usamos solo el brillo. Elegimos el detector de torchvision, con licencia BSD, porque YOLO de Ultralytics es AGPL y nos obligaría a cambiar nuestra licencia MIT. Votamos una sola etiqueta por persona a lo largo del plano porque los fotogramas sueltos fallan. Y tras probar con seis películas bajamos el umbral al 70 % con un mínimo de dos caras: el tiempo sin decidir baja entre 6 y 11 puntos y el porcentaje de mujeres cambia menos de 2 puntos. Las caras se procesan en las GPU V100S de OVHcloud, porque en CPU tardaba unas tres horas por película.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ve el sistema a un personaje femenino de Detour. Primero la detecta y la recuadra; después la sigue durante todo el plano con el mismo número de trayectoria; y con esa trayectoria mide cuánto tiempo sale, qué tamaño ocupa, si está sola y si ocupa el centro, que son los componentes del índice de protagonismo.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usar la GPU, comprobamos que todo el sistema funciona de principio a fin en un portátil. Con los cinco primeros minutos de Detour, a un fotograma por segundo, salen 300 fotogramas, 6 planos, 502 detecciones de personas y 33 trayectorias. En esta prueba no analizamos caras; ese paso, el que decide si cada persona es una mujer, se hace en las GPU de OVHcloud.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saber si el sistema acierta, de las 17 películas escogimos dos muy distintas y las anotamos a mano: Detour, sonora en blanco y negro, y The General, muda y de baja calidad. En un fragmento de tres minutos de Detour con 25 recuadros, con los hombres el sistema tiene un 93 % de precisión y acierta 14 de 21. Con las mujeres, tres de las cuatro quedaron sin decidir y una se clasificó mal; pero en esas tres la mayoría de votos era correcta, con una confianza de 0,57 a 0,61, por debajo del umbral de 0,8 que usábamos entonces. Por eso lo bajamos a 0,7. Con solo cuatro mujeres no podemos hablar de un sesgo general, pero es una señal a vigilar.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nuestro hallazgo más honesto. En The General, una comedia muda de 1927 con un solo papel femenino relevante, el modelo dio un 84 % de mujeres en la película completa. En nuestra anotación manual de un fragmento, solo 4 de las 24 personas detectadas eran mujeres. Con cine mudo de baja calidad el modelo se equivoca mucho, y por eso diseñamos el sistema para dudar: marca la película como dudosa, deja personas sin decidir y exige revisión humana. Además, anotamos 26 apariciones que el detector no encontró, y 8 eran de mujeres: una señal de que también puede pasar por alto a las mujeres, que tenemos que validar.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demo está hecha en Streamlit. Elegimos una película ya procesada y vemos el resumen por género percibido: el porcentaje de personas, el tiempo en pantalla y el índice de protagonismo. Después, una persona revisa la tabla de personas detectadas, corrige la etiqueta si hace falta y, al guardar, el sistema recalcula las métricas. La decisión final siempre la toma una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perspectiva de género está en el diseño. Hablamos de género percibido, no de identidad. Si no hay una mayoría clara, la persona queda sin decidir. Que los modelos sean binarios lo tratamos como una limitación documentada. Y, siguiendo la formación de Karina Gibert, separamos presencia de protagonismo: una mujer puede salir mucho tiempo en pantalla, siempre en plano compartido, sin ser nunca el foco.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Recorremos los siete principios de las directrices éticas europeas para una IA fiable y cómo los cumple el proyecto: supervisión humana en la demo; robustez gracias a la evaluación manual y la votación por plano; privacidad, porque no guardamos caras ni identificamos a nadie; transparencia, con el código y las métricas públicas; equidad, midiendo los errores por género y tipo de película; bienestar ambiental, usando la GPU solo cuando hace falta; y rendición de cuentas, con un registro de decisiones en 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marcos normativos. Respecto al Reglamento Europeo de IA: no hacemos identificación biométrica, no reconocemos quién es nadie; sí estimamos un atributo, el género percibido, pero con un uso estadístico y agregado, sin tomar decisiones sobre personas concretas, y con revisión humana. Respecto al RGPD: solo guardamos datos agregados, no almacenamos caras ni embeddings, y analizamos a intérpretes en obras publicadas. Y respecto a los derechos de autor: las películas son de dominio público en Estados Unidos; en la UE alguna podría seguir protegida, así que no redistribuimos vídeos ni fragmentos y nos apoyamos en la excepción de minería de textos y datos de la Directiva 2019/790.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riesgos principales y cómo los evitamos. Etiquetar mal a alguien: por eso existen los casos sin decidir, la revisión humana y los resultados solo agregados. Los fallos con cine mudo, que vimos en The General: evaluamos por tipo de película y marcamos las dudosas. Que el detector pase por alto a mujeres: anotamos las apariciones no detectadas para medirlo. El mal uso para vigilancia: documentamos el uso previsto y no guardamos identidades. Y las licencias de modelos y películas, que recogemos en el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resultados de nuestra demo en tres películas de épocas distintas. En ninguna las mujeres llegan a la mitad del tiempo en pantalla: entre un 18 % en The General y un 31 % en A Star Is Born y Detour. En protagonismo pasa algo interesante: solo en A Star Is Born, una historia centrada en una actriz, las mujeres llegan casi a la mitad de las protagonistas, un 48 %; aun así, su tiempo en pantalla sigue siendo del 31 %. Hay que leerlo con cautela: es género percibido por el modelo y sin revisión humana, y el cine mudo de The General es donde el modelo más falla.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terminar: para que las mujeres cuenten, primero hay que contarlas bien. En las películas analizadas ocupan entre el 18 % y el 31 % del tiempo en pantalla, y solo se acercan a la mitad de las protagonistas cuando la historia gira en torno a una mujer. Aprendimos que medir esto con IA abierta es posible, pero solo si el sistema sabe dudar y una persona revisa el resultado, porque el cine mudo engaña al modelo. Con más tiempo habríamos corregido sus errores principales: reentrenaríamos el modelo con miles de fotogramas de cine clásico etiquetados a mano, para que falle menos en blanco y negro y en cine mudo, deje menos mujeres sin decidir y no se pierda a las que aparecen de espaldas o en segundo plano.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D0C0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505017"/>
            <a:ext cx="10566400" cy="627327"/>
          </a:xfrm>
          <a:prstGeom prst="rect">
            <a:avLst/>
          </a:prstGeom>
          <a:noFill/>
          <a:ln/>
        </p:spPr>
        <p:txBody>
          <a:bodyPr wrap="square" lIns="0" tIns="0" rIns="0" bIns="0" rtlCol="0" anchor="t"/>
          <a:lstStyle>
            <a:lvl1pPr algn="l" indent="0" marL="0">
              <a:lnSpc>
                <a:spcPct val="115000"/>
              </a:lnSpc>
              <a:buNone/>
              <a:defRPr lang="en-US" sz="5200" dirty="0">
                <a:solidFill>
                  <a:srgbClr val="F1E8D6"/>
                </a:solidFill>
                <a:latin typeface="Big Shoulders Display" pitchFamily="34" charset="0"/>
                <a:ea typeface="Big Shoulders Display" pitchFamily="34" charset="-122"/>
                <a:cs typeface="Big Shoulders Display" pitchFamily="34" charset="-120"/>
              </a:defRPr>
            </a:lvl1pPr>
          </a:lstStyle>
          <a:p>
            <a:pPr algn="l" indent="0" marL="0">
              <a:lnSpc>
                <a:spcPct val="115000"/>
              </a:lnSpc>
              <a:buNone/>
            </a:pPr>
            <a:endParaRPr lang="en-US" sz="5200" dirty="0"/>
          </a:p>
        </p:txBody>
      </p:sp>
      <p:sp>
        <p:nvSpPr>
          <p:cNvPr id="3" name="Text Placeholder 2"/>
          <p:cNvSpPr/>
          <p:nvPr>
            <p:ph idx="101" type="body"/>
          </p:nvPr>
        </p:nvSpPr>
        <p:spPr>
          <a:xfrm>
            <a:off x="812800" y="2437144"/>
            <a:ext cx="10566400" cy="3608056"/>
          </a:xfrm>
          <a:prstGeom prst="rect">
            <a:avLst/>
          </a:prstGeom>
          <a:noFill/>
          <a:ln/>
        </p:spPr>
        <p:txBody>
          <a:bodyPr wrap="square" lIns="0" tIns="0" rIns="0" bIns="0" rtlCol="0" anchor="t"/>
          <a:lstStyle>
            <a:lvl1pPr algn="l" indent="0" marL="0">
              <a:lnSpc>
                <a:spcPct val="140000"/>
              </a:lnSpc>
              <a:buNone/>
              <a:defRPr lang="en-US" sz="1600" dirty="0">
                <a:solidFill>
                  <a:srgbClr val="F1E8D6"/>
                </a:solidFill>
                <a:latin typeface="Courier Prime" pitchFamily="34" charset="0"/>
                <a:ea typeface="Courier Prime" pitchFamily="34" charset="-122"/>
                <a:cs typeface="Courier Prime"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D0C0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505017"/>
            <a:ext cx="10566400" cy="627327"/>
          </a:xfrm>
          <a:prstGeom prst="rect">
            <a:avLst/>
          </a:prstGeom>
          <a:noFill/>
          <a:ln/>
        </p:spPr>
        <p:txBody>
          <a:bodyPr wrap="square" lIns="0" tIns="0" rIns="0" bIns="0" rtlCol="0" anchor="t"/>
          <a:lstStyle>
            <a:lvl1pPr algn="l" indent="0" marL="0">
              <a:lnSpc>
                <a:spcPct val="115000"/>
              </a:lnSpc>
              <a:buNone/>
              <a:defRPr lang="en-US" sz="5200" dirty="0">
                <a:solidFill>
                  <a:srgbClr val="F1E8D6"/>
                </a:solidFill>
                <a:latin typeface="Big Shoulders Display" pitchFamily="34" charset="0"/>
                <a:ea typeface="Big Shoulders Display" pitchFamily="34" charset="-122"/>
                <a:cs typeface="Big Shoulders Display" pitchFamily="34" charset="-120"/>
              </a:defRPr>
            </a:lvl1pPr>
          </a:lstStyle>
          <a:p>
            <a:pPr algn="l" indent="0" marL="0">
              <a:lnSpc>
                <a:spcPct val="115000"/>
              </a:lnSpc>
              <a:buNone/>
            </a:pPr>
            <a:endParaRPr lang="en-US" sz="5200" dirty="0"/>
          </a:p>
        </p:txBody>
      </p:sp>
      <p:sp>
        <p:nvSpPr>
          <p:cNvPr id="3" name="Text Placeholder 2"/>
          <p:cNvSpPr/>
          <p:nvPr>
            <p:ph idx="101" type="body"/>
          </p:nvPr>
        </p:nvSpPr>
        <p:spPr>
          <a:xfrm>
            <a:off x="812800" y="2437144"/>
            <a:ext cx="10566400" cy="3608056"/>
          </a:xfrm>
          <a:prstGeom prst="rect">
            <a:avLst/>
          </a:prstGeom>
          <a:noFill/>
          <a:ln/>
        </p:spPr>
        <p:txBody>
          <a:bodyPr wrap="square" lIns="0" tIns="0" rIns="0" bIns="0" rtlCol="0" anchor="t"/>
          <a:lstStyle>
            <a:lvl1pPr algn="l" indent="0" marL="0">
              <a:lnSpc>
                <a:spcPct val="140000"/>
              </a:lnSpc>
              <a:buNone/>
              <a:defRPr lang="en-US" sz="1600" dirty="0">
                <a:solidFill>
                  <a:srgbClr val="F1E8D6"/>
                </a:solidFill>
                <a:latin typeface="Courier Prime" pitchFamily="34" charset="0"/>
                <a:ea typeface="Courier Prime" pitchFamily="34" charset="-122"/>
                <a:cs typeface="Courier Prime"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2.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slideLayout" Target="../slideLayouts/slideLayout2.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3445669" y="1108736"/>
            <a:ext cx="5300663" cy="309827"/>
          </a:xfrm>
          <a:prstGeom prst="rect">
            <a:avLst/>
          </a:prstGeom>
          <a:noFill/>
          <a:ln/>
        </p:spPr>
        <p:txBody>
          <a:bodyPr wrap="square" lIns="0" tIns="0" rIns="0" bIns="0" rtlCol="0" anchor="t">
            <a:normAutofit/>
          </a:bodyPr>
          <a:lstStyle/>
          <a:p>
            <a:pPr algn="ctr" indent="0" marL="0">
              <a:lnSpc>
                <a:spcPts val="2240"/>
              </a:lnSpc>
              <a:buNone/>
            </a:pPr>
            <a:r>
              <a:rPr lang="en-US" sz="1600" spc="200" kern="0" dirty="0">
                <a:solidFill>
                  <a:srgbClr val="B48CFF"/>
                </a:solidFill>
                <a:latin typeface="Courier Prime" pitchFamily="49" charset="0"/>
                <a:ea typeface="Courier Prime" pitchFamily="49" charset="-122"/>
                <a:cs typeface="Courier Prime" pitchFamily="49" charset="-120"/>
              </a:rPr>
              <a:t>RETO MUJERES POR LA IA ABIERTA</a:t>
            </a:r>
            <a:endParaRPr lang="en-US" sz="1600" dirty="0"/>
          </a:p>
        </p:txBody>
      </p:sp>
      <p:sp>
        <p:nvSpPr>
          <p:cNvPr id="7" name="Text 5"/>
          <p:cNvSpPr/>
          <p:nvPr>
            <p:ph type="title"/>
          </p:nvPr>
        </p:nvSpPr>
        <p:spPr>
          <a:xfrm>
            <a:off x="1223731" y="1647164"/>
            <a:ext cx="9744472" cy="1625600"/>
          </a:xfrm>
          <a:prstGeom prst="rect">
            <a:avLst/>
          </a:prstGeom>
          <a:noFill/>
          <a:ln/>
        </p:spPr>
        <p:txBody>
          <a:bodyPr wrap="square" lIns="0" tIns="0" rIns="0" bIns="0" rtlCol="0" anchor="t">
            <a:normAutofit/>
          </a:bodyPr>
          <a:lstStyle/>
          <a:p>
            <a:pPr algn="ctr" indent="0" marL="0">
              <a:lnSpc>
                <a:spcPts val="12600"/>
              </a:lnSpc>
              <a:buNone/>
            </a:pPr>
            <a:r>
              <a:rPr lang="en-US" sz="14000" b="1" i="0" spc="200" kern="0" dirty="0">
                <a:solidFill>
                  <a:srgbClr val="F1E8D6"/>
                </a:solidFill>
                <a:latin typeface="Big Shoulders Display" pitchFamily="34" charset="0"/>
                <a:ea typeface="Big Shoulders Display" pitchFamily="34" charset="-122"/>
                <a:cs typeface="Big Shoulders Display" pitchFamily="34" charset="-120"/>
              </a:rPr>
              <a:t>ADA’S HEIRS</a:t>
            </a:r>
            <a:endParaRPr lang="en-US" sz="14000" dirty="0"/>
          </a:p>
        </p:txBody>
      </p:sp>
      <p:sp>
        <p:nvSpPr>
          <p:cNvPr id="8" name="Text 6"/>
          <p:cNvSpPr/>
          <p:nvPr/>
        </p:nvSpPr>
        <p:spPr>
          <a:xfrm>
            <a:off x="1844675" y="3501364"/>
            <a:ext cx="8502650" cy="1168400"/>
          </a:xfrm>
          <a:prstGeom prst="rect">
            <a:avLst/>
          </a:prstGeom>
          <a:noFill/>
          <a:ln/>
        </p:spPr>
        <p:txBody>
          <a:bodyPr wrap="square" lIns="0" tIns="0" rIns="0" bIns="0" rtlCol="0" anchor="t">
            <a:normAutofit/>
          </a:bodyPr>
          <a:lstStyle/>
          <a:p>
            <a:pPr algn="ctr" indent="0" marL="0">
              <a:lnSpc>
                <a:spcPts val="3000"/>
              </a:lnSpc>
              <a:buNone/>
            </a:pPr>
            <a:r>
              <a:rPr lang="en-US" sz="2400" b="1" dirty="0">
                <a:solidFill>
                  <a:srgbClr val="F1E8D6"/>
                </a:solidFill>
                <a:latin typeface="Instrument Sans" pitchFamily="34" charset="0"/>
                <a:ea typeface="Instrument Sans" pitchFamily="34" charset="-122"/>
                <a:cs typeface="Instrument Sans" pitchFamily="34" charset="-120"/>
              </a:rPr>
              <a:t>¿Quién ocupa la pantalla? </a:t>
            </a:r>
            <a:endParaRPr lang="en-US" sz="2400" dirty="0"/>
          </a:p>
          <a:p>
            <a:pPr algn="ctr" indent="0" marL="0">
              <a:lnSpc>
                <a:spcPts val="3000"/>
              </a:lnSpc>
              <a:buNone/>
            </a:pPr>
            <a:r>
              <a:rPr lang="en-US" sz="2400" dirty="0">
                <a:solidFill>
                  <a:srgbClr val="F1E8D6"/>
                </a:solidFill>
                <a:latin typeface="Instrument Sans" pitchFamily="34" charset="0"/>
                <a:ea typeface="Instrument Sans" pitchFamily="34" charset="-122"/>
                <a:cs typeface="Instrument Sans" pitchFamily="34" charset="-120"/>
              </a:rPr>
              <a:t>Presencia y protagonismo de las mujeres en el cine, medidos con IA abierta.</a:t>
            </a:r>
            <a:endParaRPr lang="en-US" sz="2400" dirty="0"/>
          </a:p>
        </p:txBody>
      </p:sp>
      <p:sp>
        <p:nvSpPr>
          <p:cNvPr id="9" name="Shape 7"/>
          <p:cNvSpPr/>
          <p:nvPr/>
        </p:nvSpPr>
        <p:spPr>
          <a:xfrm>
            <a:off x="5334000" y="4898364"/>
            <a:ext cx="1524000" cy="25400"/>
          </a:xfrm>
          <a:prstGeom prst="rect">
            <a:avLst/>
          </a:prstGeom>
          <a:solidFill>
            <a:srgbClr val="B48CFF"/>
          </a:solidFill>
          <a:ln/>
        </p:spPr>
      </p:sp>
      <p:sp>
        <p:nvSpPr>
          <p:cNvPr id="10" name="Text 8"/>
          <p:cNvSpPr/>
          <p:nvPr/>
        </p:nvSpPr>
        <p:spPr>
          <a:xfrm>
            <a:off x="1374305" y="5177764"/>
            <a:ext cx="9443323" cy="292100"/>
          </a:xfrm>
          <a:prstGeom prst="rect">
            <a:avLst/>
          </a:prstGeom>
          <a:noFill/>
          <a:ln/>
        </p:spPr>
        <p:txBody>
          <a:bodyPr wrap="square" lIns="0" tIns="0" rIns="0" bIns="0" rtlCol="0" anchor="t">
            <a:normAutofit/>
          </a:bodyPr>
          <a:lstStyle/>
          <a:p>
            <a:pPr algn="ctr" indent="0" marL="0">
              <a:lnSpc>
                <a:spcPts val="2100"/>
              </a:lnSpc>
              <a:buNone/>
            </a:pPr>
            <a:r>
              <a:rPr lang="en-US" sz="1500" spc="100" kern="0" dirty="0">
                <a:solidFill>
                  <a:srgbClr val="F1E8D6"/>
                </a:solidFill>
                <a:latin typeface="Courier Prime" pitchFamily="49" charset="0"/>
                <a:ea typeface="Courier Prime" pitchFamily="49" charset="-122"/>
                <a:cs typeface="Courier Prime" pitchFamily="49" charset="-120"/>
              </a:rPr>
              <a:t>KYARA GAMARRA VIDELA · JUDITH CARALT RICO · LUNA OSPINA LOAIZA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812800" y="123765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50" kern="0" dirty="0">
                <a:solidFill>
                  <a:srgbClr val="B48CFF"/>
                </a:solidFill>
                <a:latin typeface="Courier Prime" pitchFamily="49" charset="0"/>
                <a:ea typeface="Courier Prime" pitchFamily="49" charset="-122"/>
                <a:cs typeface="Courier Prime" pitchFamily="49" charset="-120"/>
              </a:rPr>
              <a:t>EL PROBLEMA</a:t>
            </a:r>
            <a:endParaRPr lang="en-US" sz="1500" dirty="0"/>
          </a:p>
        </p:txBody>
      </p:sp>
      <p:sp>
        <p:nvSpPr>
          <p:cNvPr id="7" name="Text 5"/>
          <p:cNvSpPr/>
          <p:nvPr>
            <p:ph type="title"/>
          </p:nvPr>
        </p:nvSpPr>
        <p:spPr>
          <a:xfrm>
            <a:off x="812800" y="1631355"/>
            <a:ext cx="10883392" cy="1280054"/>
          </a:xfrm>
          <a:prstGeom prst="rect">
            <a:avLst/>
          </a:prstGeom>
          <a:noFill/>
          <a:ln/>
        </p:spPr>
        <p:txBody>
          <a:bodyPr wrap="square" lIns="0" tIns="0" rIns="0" bIns="0" rtlCol="0" anchor="t">
            <a:normAutofit/>
          </a:bodyPr>
          <a:lstStyle/>
          <a:p>
            <a:pPr algn="l" indent="0" marL="0">
              <a:lnSpc>
                <a:spcPts val="4940"/>
              </a:lnSpc>
              <a:buNone/>
            </a:pPr>
            <a:r>
              <a:rPr lang="en-US" sz="5200" b="1" i="0" dirty="0">
                <a:solidFill>
                  <a:srgbClr val="F1E8D6"/>
                </a:solidFill>
                <a:latin typeface="Big Shoulders Display" pitchFamily="34" charset="0"/>
                <a:ea typeface="Big Shoulders Display" pitchFamily="34" charset="-122"/>
                <a:cs typeface="Big Shoulders Display" pitchFamily="34" charset="-120"/>
              </a:rPr>
              <a:t>MEDIR CUÁNTO APARECEN LAS MUJERES EN EL CINE Y CON QUÉ PROTAGONISMO</a:t>
            </a:r>
            <a:endParaRPr lang="en-US" sz="5200" dirty="0"/>
          </a:p>
        </p:txBody>
      </p:sp>
      <p:sp>
        <p:nvSpPr>
          <p:cNvPr id="8" name="Text 6"/>
          <p:cNvSpPr/>
          <p:nvPr/>
        </p:nvSpPr>
        <p:spPr>
          <a:xfrm>
            <a:off x="812800" y="3013009"/>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1E8D6"/>
                </a:solidFill>
                <a:latin typeface="Instrument Sans" pitchFamily="34" charset="0"/>
                <a:ea typeface="Instrument Sans" pitchFamily="34" charset="-122"/>
                <a:cs typeface="Instrument Sans" pitchFamily="34" charset="-120"/>
              </a:rPr>
              <a:t>De forma automática, abierta y reproducible. ¿Para quién?</a:t>
            </a:r>
            <a:endParaRPr lang="en-US" sz="2000" dirty="0"/>
          </a:p>
        </p:txBody>
      </p:sp>
      <p:sp>
        <p:nvSpPr>
          <p:cNvPr id="9" name="Shape 7"/>
          <p:cNvSpPr/>
          <p:nvPr/>
        </p:nvSpPr>
        <p:spPr>
          <a:xfrm>
            <a:off x="812800" y="3819459"/>
            <a:ext cx="2451100" cy="0"/>
          </a:xfrm>
          <a:prstGeom prst="line">
            <a:avLst/>
          </a:prstGeom>
          <a:noFill/>
          <a:ln w="38100">
            <a:solidFill>
              <a:srgbClr val="B48CFF"/>
            </a:solidFill>
            <a:prstDash val="solid"/>
          </a:ln>
        </p:spPr>
      </p:sp>
      <p:sp>
        <p:nvSpPr>
          <p:cNvPr id="10" name="Text 8"/>
          <p:cNvSpPr/>
          <p:nvPr/>
        </p:nvSpPr>
        <p:spPr>
          <a:xfrm>
            <a:off x="812800" y="4016309"/>
            <a:ext cx="2524633"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F1E8D6"/>
                </a:solidFill>
                <a:latin typeface="Big Shoulders Display" pitchFamily="34" charset="0"/>
                <a:ea typeface="Big Shoulders Display" pitchFamily="34" charset="-122"/>
                <a:cs typeface="Big Shoulders Display" pitchFamily="34" charset="-120"/>
              </a:rPr>
              <a:t>FILMOTECAS</a:t>
            </a:r>
            <a:endParaRPr lang="en-US" sz="3000" dirty="0"/>
          </a:p>
        </p:txBody>
      </p:sp>
      <p:sp>
        <p:nvSpPr>
          <p:cNvPr id="11" name="Text 9"/>
          <p:cNvSpPr/>
          <p:nvPr/>
        </p:nvSpPr>
        <p:spPr>
          <a:xfrm>
            <a:off x="812800" y="4473509"/>
            <a:ext cx="2524633" cy="586714"/>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1E8D6"/>
                </a:solidFill>
                <a:latin typeface="Instrument Sans" pitchFamily="34" charset="0"/>
                <a:ea typeface="Instrument Sans" pitchFamily="34" charset="-122"/>
                <a:cs typeface="Instrument Sans" pitchFamily="34" charset="-120"/>
              </a:rPr>
              <a:t>Ver la representación en sus fondos, por época</a:t>
            </a:r>
            <a:endParaRPr lang="en-US" sz="1700" dirty="0"/>
          </a:p>
        </p:txBody>
      </p:sp>
      <p:sp>
        <p:nvSpPr>
          <p:cNvPr id="12" name="Shape 10"/>
          <p:cNvSpPr/>
          <p:nvPr/>
        </p:nvSpPr>
        <p:spPr>
          <a:xfrm>
            <a:off x="3517900" y="3819459"/>
            <a:ext cx="2451100" cy="0"/>
          </a:xfrm>
          <a:prstGeom prst="line">
            <a:avLst/>
          </a:prstGeom>
          <a:noFill/>
          <a:ln w="38100">
            <a:solidFill>
              <a:srgbClr val="B48CFF"/>
            </a:solidFill>
            <a:prstDash val="solid"/>
          </a:ln>
        </p:spPr>
      </p:sp>
      <p:sp>
        <p:nvSpPr>
          <p:cNvPr id="13" name="Text 11"/>
          <p:cNvSpPr/>
          <p:nvPr/>
        </p:nvSpPr>
        <p:spPr>
          <a:xfrm>
            <a:off x="3517900" y="4016309"/>
            <a:ext cx="2524633"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F1E8D6"/>
                </a:solidFill>
                <a:latin typeface="Big Shoulders Display" pitchFamily="34" charset="0"/>
                <a:ea typeface="Big Shoulders Display" pitchFamily="34" charset="-122"/>
                <a:cs typeface="Big Shoulders Display" pitchFamily="34" charset="-120"/>
              </a:rPr>
              <a:t>FESTIVALES</a:t>
            </a:r>
            <a:endParaRPr lang="en-US" sz="3000" dirty="0"/>
          </a:p>
        </p:txBody>
      </p:sp>
      <p:sp>
        <p:nvSpPr>
          <p:cNvPr id="14" name="Text 12"/>
          <p:cNvSpPr/>
          <p:nvPr/>
        </p:nvSpPr>
        <p:spPr>
          <a:xfrm>
            <a:off x="3517900" y="4473509"/>
            <a:ext cx="2524633" cy="86737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1E8D6"/>
                </a:solidFill>
                <a:latin typeface="Instrument Sans" pitchFamily="34" charset="0"/>
                <a:ea typeface="Instrument Sans" pitchFamily="34" charset="-122"/>
                <a:cs typeface="Instrument Sans" pitchFamily="34" charset="-120"/>
              </a:rPr>
              <a:t>Un indicador de representación por película</a:t>
            </a:r>
            <a:endParaRPr lang="en-US" sz="1700" dirty="0"/>
          </a:p>
        </p:txBody>
      </p:sp>
      <p:sp>
        <p:nvSpPr>
          <p:cNvPr id="15" name="Shape 13"/>
          <p:cNvSpPr/>
          <p:nvPr/>
        </p:nvSpPr>
        <p:spPr>
          <a:xfrm>
            <a:off x="6223000" y="3819459"/>
            <a:ext cx="2451100" cy="0"/>
          </a:xfrm>
          <a:prstGeom prst="line">
            <a:avLst/>
          </a:prstGeom>
          <a:noFill/>
          <a:ln w="38100">
            <a:solidFill>
              <a:srgbClr val="B48CFF"/>
            </a:solidFill>
            <a:prstDash val="solid"/>
          </a:ln>
        </p:spPr>
      </p:sp>
      <p:sp>
        <p:nvSpPr>
          <p:cNvPr id="16" name="Text 14"/>
          <p:cNvSpPr/>
          <p:nvPr/>
        </p:nvSpPr>
        <p:spPr>
          <a:xfrm>
            <a:off x="6223000" y="4016309"/>
            <a:ext cx="2524633"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F1E8D6"/>
                </a:solidFill>
                <a:latin typeface="Big Shoulders Display" pitchFamily="34" charset="0"/>
                <a:ea typeface="Big Shoulders Display" pitchFamily="34" charset="-122"/>
                <a:cs typeface="Big Shoulders Display" pitchFamily="34" charset="-120"/>
              </a:rPr>
              <a:t>PRODUCTORAS</a:t>
            </a:r>
            <a:endParaRPr lang="en-US" sz="3000" dirty="0"/>
          </a:p>
        </p:txBody>
      </p:sp>
      <p:sp>
        <p:nvSpPr>
          <p:cNvPr id="17" name="Text 15"/>
          <p:cNvSpPr/>
          <p:nvPr/>
        </p:nvSpPr>
        <p:spPr>
          <a:xfrm>
            <a:off x="6223000" y="4473509"/>
            <a:ext cx="2524633" cy="586714"/>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1E8D6"/>
                </a:solidFill>
                <a:latin typeface="Instrument Sans" pitchFamily="34" charset="0"/>
                <a:ea typeface="Instrument Sans" pitchFamily="34" charset="-122"/>
                <a:cs typeface="Instrument Sans" pitchFamily="34" charset="-120"/>
              </a:rPr>
              <a:t>Autoevaluarse antes del estreno</a:t>
            </a:r>
            <a:endParaRPr lang="en-US" sz="1700" dirty="0"/>
          </a:p>
        </p:txBody>
      </p:sp>
      <p:sp>
        <p:nvSpPr>
          <p:cNvPr id="18" name="Shape 16"/>
          <p:cNvSpPr/>
          <p:nvPr/>
        </p:nvSpPr>
        <p:spPr>
          <a:xfrm>
            <a:off x="8928100" y="3819459"/>
            <a:ext cx="2451100" cy="0"/>
          </a:xfrm>
          <a:prstGeom prst="line">
            <a:avLst/>
          </a:prstGeom>
          <a:noFill/>
          <a:ln w="38100">
            <a:solidFill>
              <a:srgbClr val="B48CFF"/>
            </a:solidFill>
            <a:prstDash val="solid"/>
          </a:ln>
        </p:spPr>
      </p:sp>
      <p:sp>
        <p:nvSpPr>
          <p:cNvPr id="19" name="Text 17"/>
          <p:cNvSpPr/>
          <p:nvPr/>
        </p:nvSpPr>
        <p:spPr>
          <a:xfrm>
            <a:off x="8928100" y="4016309"/>
            <a:ext cx="2524633"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F1E8D6"/>
                </a:solidFill>
                <a:latin typeface="Big Shoulders Display" pitchFamily="34" charset="0"/>
                <a:ea typeface="Big Shoulders Display" pitchFamily="34" charset="-122"/>
                <a:cs typeface="Big Shoulders Display" pitchFamily="34" charset="-120"/>
              </a:rPr>
              <a:t>INVESTIGACIÓN</a:t>
            </a:r>
            <a:endParaRPr lang="en-US" sz="3000" dirty="0"/>
          </a:p>
        </p:txBody>
      </p:sp>
      <p:sp>
        <p:nvSpPr>
          <p:cNvPr id="20" name="Text 18"/>
          <p:cNvSpPr/>
          <p:nvPr/>
        </p:nvSpPr>
        <p:spPr>
          <a:xfrm>
            <a:off x="8928100" y="4473509"/>
            <a:ext cx="2524633" cy="586714"/>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1E8D6"/>
                </a:solidFill>
                <a:latin typeface="Instrument Sans" pitchFamily="34" charset="0"/>
                <a:ea typeface="Instrument Sans" pitchFamily="34" charset="-122"/>
                <a:cs typeface="Instrument Sans" pitchFamily="34" charset="-120"/>
              </a:rPr>
              <a:t>Estudios de cine y género reproducibles</a:t>
            </a:r>
            <a:endParaRPr lang="en-US" sz="1700" dirty="0"/>
          </a:p>
        </p:txBody>
      </p:sp>
      <p:sp>
        <p:nvSpPr>
          <p:cNvPr id="21" name="Text 19"/>
          <p:cNvSpPr/>
          <p:nvPr/>
        </p:nvSpPr>
        <p:spPr>
          <a:xfrm>
            <a:off x="812800" y="6118887"/>
            <a:ext cx="78486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ADA’S HEIRS</a:t>
            </a:r>
            <a:endParaRPr lang="en-US" sz="1300" dirty="0"/>
          </a:p>
        </p:txBody>
      </p:sp>
      <p:sp>
        <p:nvSpPr>
          <p:cNvPr id="22" name="Text 20"/>
          <p:cNvSpPr/>
          <p:nvPr/>
        </p:nvSpPr>
        <p:spPr>
          <a:xfrm>
            <a:off x="10058400" y="6118887"/>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812800" y="1111317"/>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50" kern="0" dirty="0">
                <a:solidFill>
                  <a:srgbClr val="B48CFF"/>
                </a:solidFill>
                <a:latin typeface="Courier Prime" pitchFamily="49" charset="0"/>
                <a:ea typeface="Courier Prime" pitchFamily="49" charset="-122"/>
                <a:cs typeface="Courier Prime" pitchFamily="49" charset="-120"/>
              </a:rPr>
              <a:t>MÉTRICA 1 · PRESENCIA</a:t>
            </a:r>
            <a:endParaRPr lang="en-US" sz="1500" dirty="0"/>
          </a:p>
        </p:txBody>
      </p:sp>
      <p:sp>
        <p:nvSpPr>
          <p:cNvPr id="7" name="Text 5"/>
          <p:cNvSpPr/>
          <p:nvPr>
            <p:ph type="title"/>
          </p:nvPr>
        </p:nvSpPr>
        <p:spPr>
          <a:xfrm>
            <a:off x="812800" y="1505017"/>
            <a:ext cx="10883392" cy="652727"/>
          </a:xfrm>
          <a:prstGeom prst="rect">
            <a:avLst/>
          </a:prstGeom>
          <a:noFill/>
          <a:ln/>
        </p:spPr>
        <p:txBody>
          <a:bodyPr wrap="square" lIns="0" tIns="0" rIns="0" bIns="0" rtlCol="0" anchor="t">
            <a:normAutofit/>
          </a:bodyPr>
          <a:lstStyle/>
          <a:p>
            <a:pPr algn="l" indent="0" marL="0">
              <a:lnSpc>
                <a:spcPts val="4940"/>
              </a:lnSpc>
              <a:buNone/>
            </a:pPr>
            <a:r>
              <a:rPr lang="en-US" sz="5200" b="1" i="0" dirty="0">
                <a:solidFill>
                  <a:srgbClr val="F1E8D6"/>
                </a:solidFill>
                <a:latin typeface="Big Shoulders Display" pitchFamily="34" charset="0"/>
                <a:ea typeface="Big Shoulders Display" pitchFamily="34" charset="-122"/>
                <a:cs typeface="Big Shoulders Display" pitchFamily="34" charset="-120"/>
              </a:rPr>
              <a:t>¿CUÁNTO SE VE A LAS MUJERES?</a:t>
            </a:r>
            <a:endParaRPr lang="en-US" sz="5200" dirty="0"/>
          </a:p>
        </p:txBody>
      </p:sp>
      <p:sp>
        <p:nvSpPr>
          <p:cNvPr id="8" name="Shape 6"/>
          <p:cNvSpPr/>
          <p:nvPr/>
        </p:nvSpPr>
        <p:spPr>
          <a:xfrm>
            <a:off x="812800" y="2608594"/>
            <a:ext cx="4978400" cy="0"/>
          </a:xfrm>
          <a:prstGeom prst="line">
            <a:avLst/>
          </a:prstGeom>
          <a:noFill/>
          <a:ln w="38100">
            <a:solidFill>
              <a:srgbClr val="B48CFF"/>
            </a:solidFill>
            <a:prstDash val="solid"/>
          </a:ln>
        </p:spPr>
      </p:sp>
      <p:sp>
        <p:nvSpPr>
          <p:cNvPr id="9" name="Text 7"/>
          <p:cNvSpPr/>
          <p:nvPr/>
        </p:nvSpPr>
        <p:spPr>
          <a:xfrm>
            <a:off x="812800" y="2830844"/>
            <a:ext cx="512775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48CFF"/>
                </a:solidFill>
                <a:latin typeface="Big Shoulders Display" pitchFamily="34" charset="0"/>
                <a:ea typeface="Big Shoulders Display" pitchFamily="34" charset="-122"/>
                <a:cs typeface="Big Shoulders Display" pitchFamily="34" charset="-120"/>
              </a:rPr>
              <a:t>% DE MUJERES</a:t>
            </a:r>
            <a:endParaRPr lang="en-US" sz="6000" dirty="0"/>
          </a:p>
        </p:txBody>
      </p:sp>
      <p:sp>
        <p:nvSpPr>
          <p:cNvPr id="10" name="Text 8"/>
          <p:cNvSpPr/>
          <p:nvPr/>
        </p:nvSpPr>
        <p:spPr>
          <a:xfrm>
            <a:off x="812800" y="3719844"/>
            <a:ext cx="5127752"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1E8D6"/>
                </a:solidFill>
                <a:latin typeface="Instrument Sans" pitchFamily="34" charset="0"/>
                <a:ea typeface="Instrument Sans" pitchFamily="34" charset="-122"/>
                <a:cs typeface="Instrument Sans" pitchFamily="34" charset="-120"/>
              </a:rPr>
              <a:t>Mujeres distintas que aparecen, sobre el total de personas en pantalla.</a:t>
            </a:r>
            <a:endParaRPr lang="en-US" sz="2000" dirty="0"/>
          </a:p>
        </p:txBody>
      </p:sp>
      <p:sp>
        <p:nvSpPr>
          <p:cNvPr id="11" name="Shape 9"/>
          <p:cNvSpPr/>
          <p:nvPr/>
        </p:nvSpPr>
        <p:spPr>
          <a:xfrm>
            <a:off x="6400800" y="2608594"/>
            <a:ext cx="4978400" cy="0"/>
          </a:xfrm>
          <a:prstGeom prst="line">
            <a:avLst/>
          </a:prstGeom>
          <a:noFill/>
          <a:ln w="38100">
            <a:solidFill>
              <a:srgbClr val="B48CFF"/>
            </a:solidFill>
            <a:prstDash val="solid"/>
          </a:ln>
        </p:spPr>
      </p:sp>
      <p:sp>
        <p:nvSpPr>
          <p:cNvPr id="12" name="Text 10"/>
          <p:cNvSpPr/>
          <p:nvPr/>
        </p:nvSpPr>
        <p:spPr>
          <a:xfrm>
            <a:off x="6400800" y="2830844"/>
            <a:ext cx="512775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48CFF"/>
                </a:solidFill>
                <a:latin typeface="Big Shoulders Display" pitchFamily="34" charset="0"/>
                <a:ea typeface="Big Shoulders Display" pitchFamily="34" charset="-122"/>
                <a:cs typeface="Big Shoulders Display" pitchFamily="34" charset="-120"/>
              </a:rPr>
              <a:t>% DE TIEMPO</a:t>
            </a:r>
            <a:endParaRPr lang="en-US" sz="6000" dirty="0"/>
          </a:p>
        </p:txBody>
      </p:sp>
      <p:sp>
        <p:nvSpPr>
          <p:cNvPr id="13" name="Text 11"/>
          <p:cNvSpPr/>
          <p:nvPr/>
        </p:nvSpPr>
        <p:spPr>
          <a:xfrm>
            <a:off x="6400800" y="3719844"/>
            <a:ext cx="5127752"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1E8D6"/>
                </a:solidFill>
                <a:latin typeface="Instrument Sans" pitchFamily="34" charset="0"/>
                <a:ea typeface="Instrument Sans" pitchFamily="34" charset="-122"/>
                <a:cs typeface="Instrument Sans" pitchFamily="34" charset="-120"/>
              </a:rPr>
              <a:t>Segundos en pantalla de mujeres, sobre el tiempo total de todas las personas.</a:t>
            </a:r>
            <a:endParaRPr lang="en-US" sz="2000" dirty="0"/>
          </a:p>
        </p:txBody>
      </p:sp>
      <p:sp>
        <p:nvSpPr>
          <p:cNvPr id="14" name="Text 12"/>
          <p:cNvSpPr/>
          <p:nvPr/>
        </p:nvSpPr>
        <p:spPr>
          <a:xfrm>
            <a:off x="812800" y="4837444"/>
            <a:ext cx="10883392"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1E8D6"/>
                </a:solidFill>
                <a:latin typeface="Instrument Sans" pitchFamily="34" charset="0"/>
                <a:ea typeface="Instrument Sans" pitchFamily="34" charset="-122"/>
                <a:cs typeface="Instrument Sans" pitchFamily="34" charset="-120"/>
              </a:rPr>
              <a:t>Para calcularlo, el sistema detecta a cada persona y estima si es mujer. Si no está seguro, la marca como </a:t>
            </a:r>
            <a:r>
              <a:rPr lang="en-US" sz="1700" dirty="0">
                <a:solidFill>
                  <a:srgbClr val="B48CFF"/>
                </a:solidFill>
                <a:latin typeface="Instrument Sans" pitchFamily="34" charset="0"/>
                <a:ea typeface="Instrument Sans" pitchFamily="34" charset="-122"/>
                <a:cs typeface="Instrument Sans" pitchFamily="34" charset="-120"/>
              </a:rPr>
              <a:t>no determinada</a:t>
            </a:r>
            <a:r>
              <a:rPr lang="en-US" sz="1700" dirty="0">
                <a:solidFill>
                  <a:srgbClr val="F1E8D6"/>
                </a:solidFill>
                <a:latin typeface="Instrument Sans" pitchFamily="34" charset="0"/>
                <a:ea typeface="Instrument Sans" pitchFamily="34" charset="-122"/>
                <a:cs typeface="Instrument Sans" pitchFamily="34" charset="-120"/>
              </a:rPr>
              <a:t> y no la cuenta.</a:t>
            </a:r>
            <a:endParaRPr lang="en-US" sz="1700" dirty="0"/>
          </a:p>
        </p:txBody>
      </p:sp>
      <p:sp>
        <p:nvSpPr>
          <p:cNvPr id="15" name="Text 13"/>
          <p:cNvSpPr/>
          <p:nvPr/>
        </p:nvSpPr>
        <p:spPr>
          <a:xfrm>
            <a:off x="812800" y="6118887"/>
            <a:ext cx="78486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ADA’S HEIRS</a:t>
            </a:r>
            <a:endParaRPr lang="en-US" sz="1300" dirty="0"/>
          </a:p>
        </p:txBody>
      </p:sp>
      <p:sp>
        <p:nvSpPr>
          <p:cNvPr id="16" name="Text 14"/>
          <p:cNvSpPr/>
          <p:nvPr/>
        </p:nvSpPr>
        <p:spPr>
          <a:xfrm>
            <a:off x="10058400" y="6118887"/>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812800" y="91989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50" kern="0" dirty="0">
                <a:solidFill>
                  <a:srgbClr val="B48CFF"/>
                </a:solidFill>
                <a:latin typeface="Courier Prime" pitchFamily="49" charset="0"/>
                <a:ea typeface="Courier Prime" pitchFamily="49" charset="-122"/>
                <a:cs typeface="Courier Prime" pitchFamily="49" charset="-120"/>
              </a:rPr>
              <a:t>MÉTRICA 2 · PROTAGONISMO</a:t>
            </a:r>
            <a:endParaRPr lang="en-US" sz="1500" dirty="0"/>
          </a:p>
        </p:txBody>
      </p:sp>
      <p:sp>
        <p:nvSpPr>
          <p:cNvPr id="7" name="Text 5"/>
          <p:cNvSpPr/>
          <p:nvPr>
            <p:ph type="title"/>
          </p:nvPr>
        </p:nvSpPr>
        <p:spPr>
          <a:xfrm>
            <a:off x="812800" y="1313591"/>
            <a:ext cx="10883392" cy="652727"/>
          </a:xfrm>
          <a:prstGeom prst="rect">
            <a:avLst/>
          </a:prstGeom>
          <a:noFill/>
          <a:ln/>
        </p:spPr>
        <p:txBody>
          <a:bodyPr wrap="square" lIns="0" tIns="0" rIns="0" bIns="0" rtlCol="0" anchor="t">
            <a:normAutofit/>
          </a:bodyPr>
          <a:lstStyle/>
          <a:p>
            <a:pPr algn="l" indent="0" marL="0">
              <a:lnSpc>
                <a:spcPts val="4940"/>
              </a:lnSpc>
              <a:buNone/>
            </a:pPr>
            <a:r>
              <a:rPr lang="en-US" sz="5200" b="1" i="0" dirty="0">
                <a:solidFill>
                  <a:srgbClr val="F1E8D6"/>
                </a:solidFill>
                <a:latin typeface="Big Shoulders Display" pitchFamily="34" charset="0"/>
                <a:ea typeface="Big Shoulders Display" pitchFamily="34" charset="-122"/>
                <a:cs typeface="Big Shoulders Display" pitchFamily="34" charset="-120"/>
              </a:rPr>
              <a:t>¿SON PROTAGONISTAS LAS MUJERES?</a:t>
            </a:r>
            <a:endParaRPr lang="en-US" sz="5200" dirty="0"/>
          </a:p>
        </p:txBody>
      </p:sp>
      <p:sp>
        <p:nvSpPr>
          <p:cNvPr id="8" name="Text 6"/>
          <p:cNvSpPr/>
          <p:nvPr/>
        </p:nvSpPr>
        <p:spPr>
          <a:xfrm>
            <a:off x="812800" y="2663561"/>
            <a:ext cx="6985254" cy="316839"/>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1E8D6"/>
                </a:solidFill>
                <a:latin typeface="Instrument Sans" pitchFamily="34" charset="0"/>
                <a:ea typeface="Instrument Sans" pitchFamily="34" charset="-122"/>
                <a:cs typeface="Instrument Sans" pitchFamily="34" charset="-120"/>
              </a:rPr>
              <a:t>Cada persona recibe un índice de 0 a 1 que combina:</a:t>
            </a:r>
            <a:endParaRPr lang="en-US" sz="1700" dirty="0"/>
          </a:p>
        </p:txBody>
      </p:sp>
      <p:sp>
        <p:nvSpPr>
          <p:cNvPr id="9" name="Text 7"/>
          <p:cNvSpPr/>
          <p:nvPr/>
        </p:nvSpPr>
        <p:spPr>
          <a:xfrm>
            <a:off x="812800" y="3115007"/>
            <a:ext cx="2616200"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E8D6"/>
                </a:solidFill>
                <a:latin typeface="Big Shoulders Display" pitchFamily="34" charset="0"/>
                <a:ea typeface="Big Shoulders Display" pitchFamily="34" charset="-122"/>
                <a:cs typeface="Big Shoulders Display" pitchFamily="34" charset="-120"/>
              </a:rPr>
              <a:t>TIEMPO EN PANTALLA</a:t>
            </a:r>
            <a:endParaRPr lang="en-US" sz="2400" dirty="0"/>
          </a:p>
        </p:txBody>
      </p:sp>
      <p:sp>
        <p:nvSpPr>
          <p:cNvPr id="10" name="Shape 8"/>
          <p:cNvSpPr/>
          <p:nvPr/>
        </p:nvSpPr>
        <p:spPr>
          <a:xfrm>
            <a:off x="3505200" y="3127707"/>
            <a:ext cx="2286000" cy="279400"/>
          </a:xfrm>
          <a:prstGeom prst="rect">
            <a:avLst/>
          </a:prstGeom>
          <a:solidFill>
            <a:srgbClr val="B48CFF"/>
          </a:solidFill>
          <a:ln/>
        </p:spPr>
      </p:sp>
      <p:sp>
        <p:nvSpPr>
          <p:cNvPr id="11" name="Text 9"/>
          <p:cNvSpPr/>
          <p:nvPr/>
        </p:nvSpPr>
        <p:spPr>
          <a:xfrm>
            <a:off x="5943600" y="3107399"/>
            <a:ext cx="657939"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1E8D6"/>
                </a:solidFill>
                <a:latin typeface="Courier Prime" pitchFamily="49" charset="0"/>
                <a:ea typeface="Courier Prime" pitchFamily="49" charset="-122"/>
                <a:cs typeface="Courier Prime" pitchFamily="49" charset="-120"/>
              </a:rPr>
              <a:t>30 %</a:t>
            </a:r>
            <a:endParaRPr lang="en-US" sz="1800" dirty="0"/>
          </a:p>
        </p:txBody>
      </p:sp>
      <p:sp>
        <p:nvSpPr>
          <p:cNvPr id="12" name="Text 10"/>
          <p:cNvSpPr/>
          <p:nvPr/>
        </p:nvSpPr>
        <p:spPr>
          <a:xfrm>
            <a:off x="812800" y="3587420"/>
            <a:ext cx="2616200"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E8D6"/>
                </a:solidFill>
                <a:latin typeface="Big Shoulders Display" pitchFamily="34" charset="0"/>
                <a:ea typeface="Big Shoulders Display" pitchFamily="34" charset="-122"/>
                <a:cs typeface="Big Shoulders Display" pitchFamily="34" charset="-120"/>
              </a:rPr>
              <a:t>TAMAÑO EN EL PLANO</a:t>
            </a:r>
            <a:endParaRPr lang="en-US" sz="2400" dirty="0"/>
          </a:p>
        </p:txBody>
      </p:sp>
      <p:sp>
        <p:nvSpPr>
          <p:cNvPr id="13" name="Shape 11"/>
          <p:cNvSpPr/>
          <p:nvPr/>
        </p:nvSpPr>
        <p:spPr>
          <a:xfrm>
            <a:off x="3505200" y="3600120"/>
            <a:ext cx="1524000" cy="279400"/>
          </a:xfrm>
          <a:prstGeom prst="rect">
            <a:avLst/>
          </a:prstGeom>
          <a:solidFill>
            <a:srgbClr val="B48CFF"/>
          </a:solidFill>
          <a:ln/>
        </p:spPr>
      </p:sp>
      <p:sp>
        <p:nvSpPr>
          <p:cNvPr id="14" name="Text 12"/>
          <p:cNvSpPr/>
          <p:nvPr/>
        </p:nvSpPr>
        <p:spPr>
          <a:xfrm>
            <a:off x="5181600" y="3579813"/>
            <a:ext cx="657939"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1E8D6"/>
                </a:solidFill>
                <a:latin typeface="Courier Prime" pitchFamily="49" charset="0"/>
                <a:ea typeface="Courier Prime" pitchFamily="49" charset="-122"/>
                <a:cs typeface="Courier Prime" pitchFamily="49" charset="-120"/>
              </a:rPr>
              <a:t>20 %</a:t>
            </a:r>
            <a:endParaRPr lang="en-US" sz="1800" dirty="0"/>
          </a:p>
        </p:txBody>
      </p:sp>
      <p:sp>
        <p:nvSpPr>
          <p:cNvPr id="15" name="Text 13"/>
          <p:cNvSpPr/>
          <p:nvPr/>
        </p:nvSpPr>
        <p:spPr>
          <a:xfrm>
            <a:off x="812800" y="4059833"/>
            <a:ext cx="2616200"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E8D6"/>
                </a:solidFill>
                <a:latin typeface="Big Shoulders Display" pitchFamily="34" charset="0"/>
                <a:ea typeface="Big Shoulders Display" pitchFamily="34" charset="-122"/>
                <a:cs typeface="Big Shoulders Display" pitchFamily="34" charset="-120"/>
              </a:rPr>
              <a:t>SOLA EN PLANO</a:t>
            </a:r>
            <a:endParaRPr lang="en-US" sz="2400" dirty="0"/>
          </a:p>
        </p:txBody>
      </p:sp>
      <p:sp>
        <p:nvSpPr>
          <p:cNvPr id="16" name="Shape 14"/>
          <p:cNvSpPr/>
          <p:nvPr/>
        </p:nvSpPr>
        <p:spPr>
          <a:xfrm>
            <a:off x="3505200" y="4072533"/>
            <a:ext cx="1524000" cy="279400"/>
          </a:xfrm>
          <a:prstGeom prst="rect">
            <a:avLst/>
          </a:prstGeom>
          <a:solidFill>
            <a:srgbClr val="B48CFF"/>
          </a:solidFill>
          <a:ln/>
        </p:spPr>
      </p:sp>
      <p:sp>
        <p:nvSpPr>
          <p:cNvPr id="17" name="Text 15"/>
          <p:cNvSpPr/>
          <p:nvPr/>
        </p:nvSpPr>
        <p:spPr>
          <a:xfrm>
            <a:off x="5181600" y="4052227"/>
            <a:ext cx="657939"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1E8D6"/>
                </a:solidFill>
                <a:latin typeface="Courier Prime" pitchFamily="49" charset="0"/>
                <a:ea typeface="Courier Prime" pitchFamily="49" charset="-122"/>
                <a:cs typeface="Courier Prime" pitchFamily="49" charset="-120"/>
              </a:rPr>
              <a:t>20 %</a:t>
            </a:r>
            <a:endParaRPr lang="en-US" sz="1800" dirty="0"/>
          </a:p>
        </p:txBody>
      </p:sp>
      <p:sp>
        <p:nvSpPr>
          <p:cNvPr id="18" name="Text 16"/>
          <p:cNvSpPr/>
          <p:nvPr/>
        </p:nvSpPr>
        <p:spPr>
          <a:xfrm>
            <a:off x="812800" y="4532247"/>
            <a:ext cx="2616200"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E8D6"/>
                </a:solidFill>
                <a:latin typeface="Big Shoulders Display" pitchFamily="34" charset="0"/>
                <a:ea typeface="Big Shoulders Display" pitchFamily="34" charset="-122"/>
                <a:cs typeface="Big Shoulders Display" pitchFamily="34" charset="-120"/>
              </a:rPr>
              <a:t>EN EL CENTRO</a:t>
            </a:r>
            <a:endParaRPr lang="en-US" sz="2400" dirty="0"/>
          </a:p>
        </p:txBody>
      </p:sp>
      <p:sp>
        <p:nvSpPr>
          <p:cNvPr id="19" name="Shape 17"/>
          <p:cNvSpPr/>
          <p:nvPr/>
        </p:nvSpPr>
        <p:spPr>
          <a:xfrm>
            <a:off x="3505200" y="4544947"/>
            <a:ext cx="1143000" cy="279400"/>
          </a:xfrm>
          <a:prstGeom prst="rect">
            <a:avLst/>
          </a:prstGeom>
          <a:solidFill>
            <a:srgbClr val="B48CFF"/>
          </a:solidFill>
          <a:ln/>
        </p:spPr>
      </p:sp>
      <p:sp>
        <p:nvSpPr>
          <p:cNvPr id="20" name="Text 18"/>
          <p:cNvSpPr/>
          <p:nvPr/>
        </p:nvSpPr>
        <p:spPr>
          <a:xfrm>
            <a:off x="4800600" y="4524640"/>
            <a:ext cx="657939"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1E8D6"/>
                </a:solidFill>
                <a:latin typeface="Courier Prime" pitchFamily="49" charset="0"/>
                <a:ea typeface="Courier Prime" pitchFamily="49" charset="-122"/>
                <a:cs typeface="Courier Prime" pitchFamily="49" charset="-120"/>
              </a:rPr>
              <a:t>15 %</a:t>
            </a:r>
            <a:endParaRPr lang="en-US" sz="1800" dirty="0"/>
          </a:p>
        </p:txBody>
      </p:sp>
      <p:sp>
        <p:nvSpPr>
          <p:cNvPr id="21" name="Text 19"/>
          <p:cNvSpPr/>
          <p:nvPr/>
        </p:nvSpPr>
        <p:spPr>
          <a:xfrm>
            <a:off x="812800" y="5004660"/>
            <a:ext cx="2616200"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E8D6"/>
                </a:solidFill>
                <a:latin typeface="Big Shoulders Display" pitchFamily="34" charset="0"/>
                <a:ea typeface="Big Shoulders Display" pitchFamily="34" charset="-122"/>
                <a:cs typeface="Big Shoulders Display" pitchFamily="34" charset="-120"/>
              </a:rPr>
              <a:t>AL INICIO O AL FINAL</a:t>
            </a:r>
            <a:endParaRPr lang="en-US" sz="2400" dirty="0"/>
          </a:p>
        </p:txBody>
      </p:sp>
      <p:sp>
        <p:nvSpPr>
          <p:cNvPr id="22" name="Shape 20"/>
          <p:cNvSpPr/>
          <p:nvPr/>
        </p:nvSpPr>
        <p:spPr>
          <a:xfrm>
            <a:off x="3505200" y="5017360"/>
            <a:ext cx="1143000" cy="279400"/>
          </a:xfrm>
          <a:prstGeom prst="rect">
            <a:avLst/>
          </a:prstGeom>
          <a:solidFill>
            <a:srgbClr val="B48CFF"/>
          </a:solidFill>
          <a:ln/>
        </p:spPr>
      </p:sp>
      <p:sp>
        <p:nvSpPr>
          <p:cNvPr id="23" name="Text 21"/>
          <p:cNvSpPr/>
          <p:nvPr/>
        </p:nvSpPr>
        <p:spPr>
          <a:xfrm>
            <a:off x="4800600" y="4997053"/>
            <a:ext cx="657939"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1E8D6"/>
                </a:solidFill>
                <a:latin typeface="Courier Prime" pitchFamily="49" charset="0"/>
                <a:ea typeface="Courier Prime" pitchFamily="49" charset="-122"/>
                <a:cs typeface="Courier Prime" pitchFamily="49" charset="-120"/>
              </a:rPr>
              <a:t>15 %</a:t>
            </a:r>
            <a:endParaRPr lang="en-US" sz="1800" dirty="0"/>
          </a:p>
        </p:txBody>
      </p:sp>
      <p:sp>
        <p:nvSpPr>
          <p:cNvPr id="24" name="Shape 22"/>
          <p:cNvSpPr/>
          <p:nvPr/>
        </p:nvSpPr>
        <p:spPr>
          <a:xfrm>
            <a:off x="8223250" y="2366367"/>
            <a:ext cx="3136900" cy="3247893"/>
          </a:xfrm>
          <a:prstGeom prst="rect">
            <a:avLst/>
          </a:prstGeom>
          <a:noFill/>
          <a:ln w="38100">
            <a:solidFill>
              <a:srgbClr val="F1E8D6"/>
            </a:solidFill>
            <a:prstDash val="solid"/>
          </a:ln>
        </p:spPr>
      </p:sp>
      <p:sp>
        <p:nvSpPr>
          <p:cNvPr id="25" name="Text 23"/>
          <p:cNvSpPr/>
          <p:nvPr/>
        </p:nvSpPr>
        <p:spPr>
          <a:xfrm>
            <a:off x="8547100" y="2690217"/>
            <a:ext cx="2563876"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B48CFF"/>
                </a:solidFill>
                <a:latin typeface="Big Shoulders Display" pitchFamily="34" charset="0"/>
                <a:ea typeface="Big Shoulders Display" pitchFamily="34" charset="-122"/>
                <a:cs typeface="Big Shoulders Display" pitchFamily="34" charset="-120"/>
              </a:rPr>
              <a:t>≥ 0,5</a:t>
            </a:r>
            <a:endParaRPr lang="en-US" sz="7000" dirty="0"/>
          </a:p>
        </p:txBody>
      </p:sp>
      <p:sp>
        <p:nvSpPr>
          <p:cNvPr id="26" name="Text 24"/>
          <p:cNvSpPr/>
          <p:nvPr/>
        </p:nvSpPr>
        <p:spPr>
          <a:xfrm>
            <a:off x="8547100" y="3706217"/>
            <a:ext cx="2563876" cy="608277"/>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1E8D6"/>
                </a:solidFill>
                <a:latin typeface="Instrument Sans" pitchFamily="34" charset="0"/>
                <a:ea typeface="Instrument Sans" pitchFamily="34" charset="-122"/>
                <a:cs typeface="Instrument Sans" pitchFamily="34" charset="-120"/>
              </a:rPr>
              <a:t>La persona es protagonista.</a:t>
            </a:r>
            <a:endParaRPr lang="en-US" sz="1700" dirty="0"/>
          </a:p>
        </p:txBody>
      </p:sp>
      <p:sp>
        <p:nvSpPr>
          <p:cNvPr id="27" name="Text 25"/>
          <p:cNvSpPr/>
          <p:nvPr/>
        </p:nvSpPr>
        <p:spPr>
          <a:xfrm>
            <a:off x="8547100" y="4416095"/>
            <a:ext cx="2563876" cy="899716"/>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1E8D6"/>
                </a:solidFill>
                <a:latin typeface="Instrument Sans" pitchFamily="34" charset="0"/>
                <a:ea typeface="Instrument Sans" pitchFamily="34" charset="-122"/>
                <a:cs typeface="Instrument Sans" pitchFamily="34" charset="-120"/>
              </a:rPr>
              <a:t>Medimos qué </a:t>
            </a:r>
            <a:r>
              <a:rPr lang="en-US" sz="1700" b="1" dirty="0">
                <a:solidFill>
                  <a:srgbClr val="F1E8D6"/>
                </a:solidFill>
                <a:latin typeface="Instrument Sans" pitchFamily="34" charset="0"/>
                <a:ea typeface="Instrument Sans" pitchFamily="34" charset="-122"/>
                <a:cs typeface="Instrument Sans" pitchFamily="34" charset="-120"/>
              </a:rPr>
              <a:t>% de las protagonistas son mujeres</a:t>
            </a:r>
            <a:r>
              <a:rPr lang="en-US" sz="1700" dirty="0">
                <a:solidFill>
                  <a:srgbClr val="F1E8D6"/>
                </a:solidFill>
                <a:latin typeface="Instrument Sans" pitchFamily="34" charset="0"/>
                <a:ea typeface="Instrument Sans" pitchFamily="34" charset="-122"/>
                <a:cs typeface="Instrument Sans" pitchFamily="34" charset="-120"/>
              </a:rPr>
              <a:t>.</a:t>
            </a:r>
            <a:endParaRPr lang="en-US" sz="1700" dirty="0"/>
          </a:p>
        </p:txBody>
      </p:sp>
      <p:sp>
        <p:nvSpPr>
          <p:cNvPr id="28" name="Text 26"/>
          <p:cNvSpPr/>
          <p:nvPr/>
        </p:nvSpPr>
        <p:spPr>
          <a:xfrm>
            <a:off x="812800" y="6118889"/>
            <a:ext cx="78486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ADA’S HEIRS</a:t>
            </a:r>
            <a:endParaRPr lang="en-US" sz="1300" dirty="0"/>
          </a:p>
        </p:txBody>
      </p:sp>
      <p:sp>
        <p:nvSpPr>
          <p:cNvPr id="29" name="Text 27"/>
          <p:cNvSpPr/>
          <p:nvPr/>
        </p:nvSpPr>
        <p:spPr>
          <a:xfrm>
            <a:off x="10058400" y="61188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812800" y="939868"/>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50" kern="0" dirty="0">
                <a:solidFill>
                  <a:srgbClr val="B48CFF"/>
                </a:solidFill>
                <a:latin typeface="Courier Prime" pitchFamily="49" charset="0"/>
                <a:ea typeface="Courier Prime" pitchFamily="49" charset="-122"/>
                <a:cs typeface="Courier Prime" pitchFamily="49" charset="-120"/>
              </a:rPr>
              <a:t>LOS DATOS</a:t>
            </a:r>
            <a:endParaRPr lang="en-US" sz="1500" dirty="0"/>
          </a:p>
        </p:txBody>
      </p:sp>
      <p:sp>
        <p:nvSpPr>
          <p:cNvPr id="7" name="Text 5"/>
          <p:cNvSpPr/>
          <p:nvPr>
            <p:ph type="title"/>
          </p:nvPr>
        </p:nvSpPr>
        <p:spPr>
          <a:xfrm>
            <a:off x="812800" y="1333568"/>
            <a:ext cx="10883392" cy="652727"/>
          </a:xfrm>
          <a:prstGeom prst="rect">
            <a:avLst/>
          </a:prstGeom>
          <a:noFill/>
          <a:ln/>
        </p:spPr>
        <p:txBody>
          <a:bodyPr wrap="square" lIns="0" tIns="0" rIns="0" bIns="0" rtlCol="0" anchor="t">
            <a:normAutofit/>
          </a:bodyPr>
          <a:lstStyle/>
          <a:p>
            <a:pPr algn="l" indent="0" marL="0">
              <a:lnSpc>
                <a:spcPts val="4940"/>
              </a:lnSpc>
              <a:buNone/>
            </a:pPr>
            <a:r>
              <a:rPr lang="en-US" sz="5200" b="1" i="0" dirty="0">
                <a:solidFill>
                  <a:srgbClr val="F1E8D6"/>
                </a:solidFill>
                <a:latin typeface="Big Shoulders Display" pitchFamily="34" charset="0"/>
                <a:ea typeface="Big Shoulders Display" pitchFamily="34" charset="-122"/>
                <a:cs typeface="Big Shoulders Display" pitchFamily="34" charset="-120"/>
              </a:rPr>
              <a:t>17 PELÍCULAS, DE 1925 A 1968</a:t>
            </a:r>
            <a:endParaRPr lang="en-US" sz="5200" dirty="0"/>
          </a:p>
        </p:txBody>
      </p:sp>
      <p:sp>
        <p:nvSpPr>
          <p:cNvPr id="8" name="Text 6"/>
          <p:cNvSpPr/>
          <p:nvPr/>
        </p:nvSpPr>
        <p:spPr>
          <a:xfrm>
            <a:off x="812800" y="2440980"/>
            <a:ext cx="1003300"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1E8D6"/>
                </a:solidFill>
                <a:latin typeface="Big Shoulders Display" pitchFamily="34" charset="0"/>
                <a:ea typeface="Big Shoulders Display" pitchFamily="34" charset="-122"/>
                <a:cs typeface="Big Shoulders Display" pitchFamily="34" charset="-120"/>
              </a:rPr>
              <a:t>1920s</a:t>
            </a:r>
            <a:endParaRPr lang="en-US" sz="2800" dirty="0"/>
          </a:p>
        </p:txBody>
      </p:sp>
      <p:sp>
        <p:nvSpPr>
          <p:cNvPr id="9" name="Shape 7"/>
          <p:cNvSpPr/>
          <p:nvPr/>
        </p:nvSpPr>
        <p:spPr>
          <a:xfrm>
            <a:off x="1917700" y="2512089"/>
            <a:ext cx="952500" cy="355600"/>
          </a:xfrm>
          <a:prstGeom prst="rect">
            <a:avLst/>
          </a:prstGeom>
          <a:solidFill>
            <a:srgbClr val="B48CFF"/>
          </a:solidFill>
          <a:ln/>
        </p:spPr>
      </p:sp>
      <p:sp>
        <p:nvSpPr>
          <p:cNvPr id="10" name="Text 8"/>
          <p:cNvSpPr/>
          <p:nvPr/>
        </p:nvSpPr>
        <p:spPr>
          <a:xfrm>
            <a:off x="3022600" y="2512089"/>
            <a:ext cx="20313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1E8D6"/>
                </a:solidFill>
                <a:latin typeface="Courier Prime" pitchFamily="49" charset="0"/>
                <a:ea typeface="Courier Prime" pitchFamily="49" charset="-122"/>
                <a:cs typeface="Courier Prime" pitchFamily="49" charset="-120"/>
              </a:rPr>
              <a:t>2</a:t>
            </a:r>
            <a:endParaRPr lang="en-US" sz="2000" dirty="0"/>
          </a:p>
        </p:txBody>
      </p:sp>
      <p:sp>
        <p:nvSpPr>
          <p:cNvPr id="11" name="Text 9"/>
          <p:cNvSpPr/>
          <p:nvPr/>
        </p:nvSpPr>
        <p:spPr>
          <a:xfrm>
            <a:off x="812800" y="3091194"/>
            <a:ext cx="1003300"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1E8D6"/>
                </a:solidFill>
                <a:latin typeface="Big Shoulders Display" pitchFamily="34" charset="0"/>
                <a:ea typeface="Big Shoulders Display" pitchFamily="34" charset="-122"/>
                <a:cs typeface="Big Shoulders Display" pitchFamily="34" charset="-120"/>
              </a:rPr>
              <a:t>1930s</a:t>
            </a:r>
            <a:endParaRPr lang="en-US" sz="2800" dirty="0"/>
          </a:p>
        </p:txBody>
      </p:sp>
      <p:sp>
        <p:nvSpPr>
          <p:cNvPr id="12" name="Shape 10"/>
          <p:cNvSpPr/>
          <p:nvPr/>
        </p:nvSpPr>
        <p:spPr>
          <a:xfrm>
            <a:off x="1917700" y="3162300"/>
            <a:ext cx="1428750" cy="355600"/>
          </a:xfrm>
          <a:prstGeom prst="rect">
            <a:avLst/>
          </a:prstGeom>
          <a:solidFill>
            <a:srgbClr val="B48CFF"/>
          </a:solidFill>
          <a:ln/>
        </p:spPr>
      </p:sp>
      <p:sp>
        <p:nvSpPr>
          <p:cNvPr id="13" name="Text 11"/>
          <p:cNvSpPr/>
          <p:nvPr/>
        </p:nvSpPr>
        <p:spPr>
          <a:xfrm>
            <a:off x="3498850" y="3162300"/>
            <a:ext cx="20313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1E8D6"/>
                </a:solidFill>
                <a:latin typeface="Courier Prime" pitchFamily="49" charset="0"/>
                <a:ea typeface="Courier Prime" pitchFamily="49" charset="-122"/>
                <a:cs typeface="Courier Prime" pitchFamily="49" charset="-120"/>
              </a:rPr>
              <a:t>3</a:t>
            </a:r>
            <a:endParaRPr lang="en-US" sz="2000" dirty="0"/>
          </a:p>
        </p:txBody>
      </p:sp>
      <p:sp>
        <p:nvSpPr>
          <p:cNvPr id="14" name="Text 12"/>
          <p:cNvSpPr/>
          <p:nvPr/>
        </p:nvSpPr>
        <p:spPr>
          <a:xfrm>
            <a:off x="812800" y="3741409"/>
            <a:ext cx="1003300"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1E8D6"/>
                </a:solidFill>
                <a:latin typeface="Big Shoulders Display" pitchFamily="34" charset="0"/>
                <a:ea typeface="Big Shoulders Display" pitchFamily="34" charset="-122"/>
                <a:cs typeface="Big Shoulders Display" pitchFamily="34" charset="-120"/>
              </a:rPr>
              <a:t>1940s</a:t>
            </a:r>
            <a:endParaRPr lang="en-US" sz="2800" dirty="0"/>
          </a:p>
        </p:txBody>
      </p:sp>
      <p:sp>
        <p:nvSpPr>
          <p:cNvPr id="15" name="Shape 13"/>
          <p:cNvSpPr/>
          <p:nvPr/>
        </p:nvSpPr>
        <p:spPr>
          <a:xfrm>
            <a:off x="1917700" y="3812515"/>
            <a:ext cx="2381250" cy="355600"/>
          </a:xfrm>
          <a:prstGeom prst="rect">
            <a:avLst/>
          </a:prstGeom>
          <a:solidFill>
            <a:srgbClr val="B48CFF"/>
          </a:solidFill>
          <a:ln/>
        </p:spPr>
      </p:sp>
      <p:sp>
        <p:nvSpPr>
          <p:cNvPr id="16" name="Text 14"/>
          <p:cNvSpPr/>
          <p:nvPr/>
        </p:nvSpPr>
        <p:spPr>
          <a:xfrm>
            <a:off x="4451350" y="3812515"/>
            <a:ext cx="20313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1E8D6"/>
                </a:solidFill>
                <a:latin typeface="Courier Prime" pitchFamily="49" charset="0"/>
                <a:ea typeface="Courier Prime" pitchFamily="49" charset="-122"/>
                <a:cs typeface="Courier Prime" pitchFamily="49" charset="-120"/>
              </a:rPr>
              <a:t>5</a:t>
            </a:r>
            <a:endParaRPr lang="en-US" sz="2000" dirty="0"/>
          </a:p>
        </p:txBody>
      </p:sp>
      <p:sp>
        <p:nvSpPr>
          <p:cNvPr id="17" name="Text 15"/>
          <p:cNvSpPr/>
          <p:nvPr/>
        </p:nvSpPr>
        <p:spPr>
          <a:xfrm>
            <a:off x="812800" y="4391620"/>
            <a:ext cx="1003300"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1E8D6"/>
                </a:solidFill>
                <a:latin typeface="Big Shoulders Display" pitchFamily="34" charset="0"/>
                <a:ea typeface="Big Shoulders Display" pitchFamily="34" charset="-122"/>
                <a:cs typeface="Big Shoulders Display" pitchFamily="34" charset="-120"/>
              </a:rPr>
              <a:t>1950s</a:t>
            </a:r>
            <a:endParaRPr lang="en-US" sz="2800" dirty="0"/>
          </a:p>
        </p:txBody>
      </p:sp>
      <p:sp>
        <p:nvSpPr>
          <p:cNvPr id="18" name="Shape 16"/>
          <p:cNvSpPr/>
          <p:nvPr/>
        </p:nvSpPr>
        <p:spPr>
          <a:xfrm>
            <a:off x="1917700" y="4462729"/>
            <a:ext cx="1905000" cy="355600"/>
          </a:xfrm>
          <a:prstGeom prst="rect">
            <a:avLst/>
          </a:prstGeom>
          <a:solidFill>
            <a:srgbClr val="B48CFF"/>
          </a:solidFill>
          <a:ln/>
        </p:spPr>
      </p:sp>
      <p:sp>
        <p:nvSpPr>
          <p:cNvPr id="19" name="Text 17"/>
          <p:cNvSpPr/>
          <p:nvPr/>
        </p:nvSpPr>
        <p:spPr>
          <a:xfrm>
            <a:off x="3975100" y="4462729"/>
            <a:ext cx="20313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1E8D6"/>
                </a:solidFill>
                <a:latin typeface="Courier Prime" pitchFamily="49" charset="0"/>
                <a:ea typeface="Courier Prime" pitchFamily="49" charset="-122"/>
                <a:cs typeface="Courier Prime" pitchFamily="49" charset="-120"/>
              </a:rPr>
              <a:t>4</a:t>
            </a:r>
            <a:endParaRPr lang="en-US" sz="2000" dirty="0"/>
          </a:p>
        </p:txBody>
      </p:sp>
      <p:sp>
        <p:nvSpPr>
          <p:cNvPr id="20" name="Text 18"/>
          <p:cNvSpPr/>
          <p:nvPr/>
        </p:nvSpPr>
        <p:spPr>
          <a:xfrm>
            <a:off x="812800" y="5041835"/>
            <a:ext cx="1003300"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1E8D6"/>
                </a:solidFill>
                <a:latin typeface="Big Shoulders Display" pitchFamily="34" charset="0"/>
                <a:ea typeface="Big Shoulders Display" pitchFamily="34" charset="-122"/>
                <a:cs typeface="Big Shoulders Display" pitchFamily="34" charset="-120"/>
              </a:rPr>
              <a:t>1960s</a:t>
            </a:r>
            <a:endParaRPr lang="en-US" sz="2800" dirty="0"/>
          </a:p>
        </p:txBody>
      </p:sp>
      <p:sp>
        <p:nvSpPr>
          <p:cNvPr id="21" name="Shape 19"/>
          <p:cNvSpPr/>
          <p:nvPr/>
        </p:nvSpPr>
        <p:spPr>
          <a:xfrm>
            <a:off x="1917700" y="5112941"/>
            <a:ext cx="1428750" cy="355600"/>
          </a:xfrm>
          <a:prstGeom prst="rect">
            <a:avLst/>
          </a:prstGeom>
          <a:solidFill>
            <a:srgbClr val="B48CFF"/>
          </a:solidFill>
          <a:ln/>
        </p:spPr>
      </p:sp>
      <p:sp>
        <p:nvSpPr>
          <p:cNvPr id="22" name="Text 20"/>
          <p:cNvSpPr/>
          <p:nvPr/>
        </p:nvSpPr>
        <p:spPr>
          <a:xfrm>
            <a:off x="3498850" y="5112941"/>
            <a:ext cx="20313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1E8D6"/>
                </a:solidFill>
                <a:latin typeface="Courier Prime" pitchFamily="49" charset="0"/>
                <a:ea typeface="Courier Prime" pitchFamily="49" charset="-122"/>
                <a:cs typeface="Courier Prime" pitchFamily="49" charset="-120"/>
              </a:rPr>
              <a:t>3</a:t>
            </a:r>
            <a:endParaRPr lang="en-US" sz="2000" dirty="0"/>
          </a:p>
        </p:txBody>
      </p:sp>
      <p:sp>
        <p:nvSpPr>
          <p:cNvPr id="23" name="Shape 21"/>
          <p:cNvSpPr/>
          <p:nvPr/>
        </p:nvSpPr>
        <p:spPr>
          <a:xfrm>
            <a:off x="5480050" y="2367294"/>
            <a:ext cx="0" cy="929614"/>
          </a:xfrm>
          <a:prstGeom prst="line">
            <a:avLst/>
          </a:prstGeom>
          <a:noFill/>
          <a:ln w="38100">
            <a:solidFill>
              <a:srgbClr val="B48CFF"/>
            </a:solidFill>
            <a:prstDash val="solid"/>
          </a:ln>
        </p:spPr>
      </p:sp>
      <p:sp>
        <p:nvSpPr>
          <p:cNvPr id="24" name="Text 22"/>
          <p:cNvSpPr/>
          <p:nvPr/>
        </p:nvSpPr>
        <p:spPr>
          <a:xfrm>
            <a:off x="5676900" y="2367294"/>
            <a:ext cx="5873369"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F1E8D6"/>
                </a:solidFill>
                <a:latin typeface="Big Shoulders Display" pitchFamily="34" charset="0"/>
                <a:ea typeface="Big Shoulders Display" pitchFamily="34" charset="-122"/>
                <a:cs typeface="Big Shoulders Display" pitchFamily="34" charset="-120"/>
              </a:rPr>
              <a:t>CUMPLEN LA LICENCIA</a:t>
            </a:r>
            <a:endParaRPr lang="en-US" sz="2600" dirty="0"/>
          </a:p>
        </p:txBody>
      </p:sp>
      <p:sp>
        <p:nvSpPr>
          <p:cNvPr id="25" name="Text 23"/>
          <p:cNvSpPr/>
          <p:nvPr/>
        </p:nvSpPr>
        <p:spPr>
          <a:xfrm>
            <a:off x="5676900" y="2748294"/>
            <a:ext cx="5873369" cy="574014"/>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E8D6"/>
                </a:solidFill>
                <a:latin typeface="Instrument Sans" pitchFamily="34" charset="0"/>
                <a:ea typeface="Instrument Sans" pitchFamily="34" charset="-122"/>
                <a:cs typeface="Instrument Sans" pitchFamily="34" charset="-120"/>
              </a:rPr>
              <a:t>Dominio público, de Internet Archive y anteriores a 1970, cuando la licencia es más fiable.</a:t>
            </a:r>
            <a:endParaRPr lang="en-US" sz="1600" dirty="0"/>
          </a:p>
        </p:txBody>
      </p:sp>
      <p:sp>
        <p:nvSpPr>
          <p:cNvPr id="26" name="Shape 24"/>
          <p:cNvSpPr/>
          <p:nvPr/>
        </p:nvSpPr>
        <p:spPr>
          <a:xfrm>
            <a:off x="5480050" y="3525509"/>
            <a:ext cx="0" cy="929614"/>
          </a:xfrm>
          <a:prstGeom prst="line">
            <a:avLst/>
          </a:prstGeom>
          <a:noFill/>
          <a:ln w="38100">
            <a:solidFill>
              <a:srgbClr val="B48CFF"/>
            </a:solidFill>
            <a:prstDash val="solid"/>
          </a:ln>
        </p:spPr>
      </p:sp>
      <p:sp>
        <p:nvSpPr>
          <p:cNvPr id="27" name="Text 25"/>
          <p:cNvSpPr/>
          <p:nvPr/>
        </p:nvSpPr>
        <p:spPr>
          <a:xfrm>
            <a:off x="5676900" y="3525509"/>
            <a:ext cx="5873369"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F1E8D6"/>
                </a:solidFill>
                <a:latin typeface="Big Shoulders Display" pitchFamily="34" charset="0"/>
                <a:ea typeface="Big Shoulders Display" pitchFamily="34" charset="-122"/>
                <a:cs typeface="Big Shoulders Display" pitchFamily="34" charset="-120"/>
              </a:rPr>
              <a:t>SON VARIADAS</a:t>
            </a:r>
            <a:endParaRPr lang="en-US" sz="2600" dirty="0"/>
          </a:p>
        </p:txBody>
      </p:sp>
      <p:sp>
        <p:nvSpPr>
          <p:cNvPr id="28" name="Text 26"/>
          <p:cNvSpPr/>
          <p:nvPr/>
        </p:nvSpPr>
        <p:spPr>
          <a:xfrm>
            <a:off x="5676900" y="3906509"/>
            <a:ext cx="5873369" cy="574014"/>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E8D6"/>
                </a:solidFill>
                <a:latin typeface="Instrument Sans" pitchFamily="34" charset="0"/>
                <a:ea typeface="Instrument Sans" pitchFamily="34" charset="-122"/>
                <a:cs typeface="Instrument Sans" pitchFamily="34" charset="-120"/>
              </a:rPr>
              <a:t>Mudas y sonoras, en blanco y negro y en color, de géneros y repartos distintos.</a:t>
            </a:r>
            <a:endParaRPr lang="en-US" sz="1600" dirty="0"/>
          </a:p>
        </p:txBody>
      </p:sp>
      <p:sp>
        <p:nvSpPr>
          <p:cNvPr id="29" name="Shape 27"/>
          <p:cNvSpPr/>
          <p:nvPr/>
        </p:nvSpPr>
        <p:spPr>
          <a:xfrm>
            <a:off x="5480050" y="4683720"/>
            <a:ext cx="0" cy="929614"/>
          </a:xfrm>
          <a:prstGeom prst="line">
            <a:avLst/>
          </a:prstGeom>
          <a:noFill/>
          <a:ln w="38100">
            <a:solidFill>
              <a:srgbClr val="B48CFF"/>
            </a:solidFill>
            <a:prstDash val="solid"/>
          </a:ln>
        </p:spPr>
      </p:sp>
      <p:sp>
        <p:nvSpPr>
          <p:cNvPr id="30" name="Text 28"/>
          <p:cNvSpPr/>
          <p:nvPr/>
        </p:nvSpPr>
        <p:spPr>
          <a:xfrm>
            <a:off x="5676900" y="4683720"/>
            <a:ext cx="5873369"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F1E8D6"/>
                </a:solidFill>
                <a:latin typeface="Big Shoulders Display" pitchFamily="34" charset="0"/>
                <a:ea typeface="Big Shoulders Display" pitchFamily="34" charset="-122"/>
                <a:cs typeface="Big Shoulders Display" pitchFamily="34" charset="-120"/>
              </a:rPr>
              <a:t>CON CONDICIONES</a:t>
            </a:r>
            <a:endParaRPr lang="en-US" sz="2600" dirty="0"/>
          </a:p>
        </p:txBody>
      </p:sp>
      <p:sp>
        <p:nvSpPr>
          <p:cNvPr id="31" name="Text 29"/>
          <p:cNvSpPr/>
          <p:nvPr/>
        </p:nvSpPr>
        <p:spPr>
          <a:xfrm>
            <a:off x="5676900" y="5064720"/>
            <a:ext cx="5873369" cy="574014"/>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E8D6"/>
                </a:solidFill>
                <a:latin typeface="Instrument Sans" pitchFamily="34" charset="0"/>
                <a:ea typeface="Instrument Sans" pitchFamily="34" charset="-122"/>
                <a:cs typeface="Instrument Sans" pitchFamily="34" charset="-120"/>
              </a:rPr>
              <a:t>Sin protagonistas menores de edad. No redistribuimos los vídeos, solo estadísticas.</a:t>
            </a:r>
            <a:endParaRPr lang="en-US" sz="1600" dirty="0"/>
          </a:p>
        </p:txBody>
      </p:sp>
      <p:sp>
        <p:nvSpPr>
          <p:cNvPr id="32" name="Text 30"/>
          <p:cNvSpPr/>
          <p:nvPr/>
        </p:nvSpPr>
        <p:spPr>
          <a:xfrm>
            <a:off x="812800" y="6118889"/>
            <a:ext cx="78486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PELÍCULAS POR DÉCADA</a:t>
            </a:r>
            <a:endParaRPr lang="en-US" sz="1300" dirty="0"/>
          </a:p>
        </p:txBody>
      </p:sp>
      <p:sp>
        <p:nvSpPr>
          <p:cNvPr id="33" name="Text 31"/>
          <p:cNvSpPr/>
          <p:nvPr/>
        </p:nvSpPr>
        <p:spPr>
          <a:xfrm>
            <a:off x="10058400" y="61188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812800" y="812800"/>
            <a:ext cx="10883392" cy="283964"/>
          </a:xfrm>
          <a:prstGeom prst="rect">
            <a:avLst/>
          </a:prstGeom>
          <a:noFill/>
          <a:ln/>
        </p:spPr>
        <p:txBody>
          <a:bodyPr wrap="square" lIns="0" tIns="0" rIns="0" bIns="0" rtlCol="0" anchor="t">
            <a:normAutofit/>
          </a:bodyPr>
          <a:lstStyle/>
          <a:p>
            <a:pPr algn="l" indent="0" marL="0">
              <a:lnSpc>
                <a:spcPts val="2074"/>
              </a:lnSpc>
              <a:buNone/>
            </a:pPr>
            <a:r>
              <a:rPr lang="en-US" sz="1481" spc="150" kern="0" dirty="0">
                <a:solidFill>
                  <a:srgbClr val="B48CFF"/>
                </a:solidFill>
                <a:latin typeface="Courier Prime" pitchFamily="49" charset="0"/>
                <a:ea typeface="Courier Prime" pitchFamily="49" charset="-122"/>
                <a:cs typeface="Courier Prime" pitchFamily="49" charset="-120"/>
              </a:rPr>
              <a:t>CÓMO FUNCIONA</a:t>
            </a:r>
            <a:endParaRPr lang="en-US" sz="1481" dirty="0"/>
          </a:p>
        </p:txBody>
      </p:sp>
      <p:sp>
        <p:nvSpPr>
          <p:cNvPr id="7" name="Text 5"/>
          <p:cNvSpPr/>
          <p:nvPr>
            <p:ph type="title"/>
          </p:nvPr>
        </p:nvSpPr>
        <p:spPr>
          <a:xfrm>
            <a:off x="812800" y="1198364"/>
            <a:ext cx="10883392" cy="633611"/>
          </a:xfrm>
          <a:prstGeom prst="rect">
            <a:avLst/>
          </a:prstGeom>
          <a:noFill/>
          <a:ln/>
        </p:spPr>
        <p:txBody>
          <a:bodyPr wrap="square" lIns="0" tIns="0" rIns="0" bIns="0" rtlCol="0" anchor="t">
            <a:normAutofit/>
          </a:bodyPr>
          <a:lstStyle/>
          <a:p>
            <a:pPr algn="l" indent="0" marL="0">
              <a:lnSpc>
                <a:spcPts val="4816"/>
              </a:lnSpc>
              <a:buNone/>
            </a:pPr>
            <a:r>
              <a:rPr lang="en-US" sz="5070" b="1" i="0" dirty="0">
                <a:solidFill>
                  <a:srgbClr val="F1E8D6"/>
                </a:solidFill>
                <a:latin typeface="Big Shoulders Display" pitchFamily="34" charset="0"/>
                <a:ea typeface="Big Shoulders Display" pitchFamily="34" charset="-122"/>
                <a:cs typeface="Big Shoulders Display" pitchFamily="34" charset="-120"/>
              </a:rPr>
              <a:t>DE LA PELÍCULA AL INFORME</a:t>
            </a:r>
            <a:endParaRPr lang="en-US" sz="5070" dirty="0"/>
          </a:p>
        </p:txBody>
      </p:sp>
      <p:sp>
        <p:nvSpPr>
          <p:cNvPr id="8" name="Shape 6"/>
          <p:cNvSpPr/>
          <p:nvPr/>
        </p:nvSpPr>
        <p:spPr>
          <a:xfrm>
            <a:off x="812800" y="2111245"/>
            <a:ext cx="2292350" cy="1183614"/>
          </a:xfrm>
          <a:prstGeom prst="roundRect">
            <a:avLst>
              <a:gd name="adj" fmla="val 6438"/>
            </a:avLst>
          </a:prstGeom>
          <a:solidFill>
            <a:srgbClr val="B48CFF"/>
          </a:solidFill>
          <a:ln/>
        </p:spPr>
      </p:sp>
      <p:sp>
        <p:nvSpPr>
          <p:cNvPr id="9" name="Text 7"/>
          <p:cNvSpPr/>
          <p:nvPr/>
        </p:nvSpPr>
        <p:spPr>
          <a:xfrm>
            <a:off x="965200" y="2250945"/>
            <a:ext cx="20471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D0C0A"/>
                </a:solidFill>
                <a:latin typeface="Courier Prime" pitchFamily="49" charset="0"/>
                <a:ea typeface="Courier Prime" pitchFamily="49" charset="-122"/>
                <a:cs typeface="Courier Prime" pitchFamily="49" charset="-120"/>
              </a:rPr>
              <a:t>01</a:t>
            </a:r>
            <a:endParaRPr lang="en-US" sz="1400" dirty="0"/>
          </a:p>
        </p:txBody>
      </p:sp>
      <p:sp>
        <p:nvSpPr>
          <p:cNvPr id="10" name="Text 8"/>
          <p:cNvSpPr/>
          <p:nvPr/>
        </p:nvSpPr>
        <p:spPr>
          <a:xfrm>
            <a:off x="965200" y="2537951"/>
            <a:ext cx="2047176"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0D0C0A"/>
                </a:solidFill>
                <a:latin typeface="Big Shoulders Display" pitchFamily="34" charset="0"/>
                <a:ea typeface="Big Shoulders Display" pitchFamily="34" charset="-122"/>
                <a:cs typeface="Big Shoulders Display" pitchFamily="34" charset="-120"/>
              </a:rPr>
              <a:t>PELÍCULA</a:t>
            </a:r>
            <a:endParaRPr lang="en-US" sz="2600" dirty="0"/>
          </a:p>
        </p:txBody>
      </p:sp>
      <p:sp>
        <p:nvSpPr>
          <p:cNvPr id="11" name="Text 9"/>
          <p:cNvSpPr/>
          <p:nvPr/>
        </p:nvSpPr>
        <p:spPr>
          <a:xfrm>
            <a:off x="965200" y="2906251"/>
            <a:ext cx="20471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D0C0A"/>
                </a:solidFill>
                <a:latin typeface="Instrument Sans" pitchFamily="34" charset="0"/>
                <a:ea typeface="Instrument Sans" pitchFamily="34" charset="-122"/>
                <a:cs typeface="Instrument Sans" pitchFamily="34" charset="-120"/>
              </a:rPr>
              <a:t>El vídeo de entrada</a:t>
            </a:r>
            <a:endParaRPr lang="en-US" sz="1400" dirty="0"/>
          </a:p>
        </p:txBody>
      </p:sp>
      <p:pic>
        <p:nvPicPr>
          <p:cNvPr id="12" name="Image 0" descr="connector">    </p:cNvPr>
          <p:cNvPicPr>
            <a:picLocks noChangeAspect="1"/>
          </p:cNvPicPr>
          <p:nvPr/>
        </p:nvPicPr>
        <p:blipFill>
          <a:blip r:embed="rId1"/>
          <a:srcRect l="0" r="0" t="0" b="0"/>
          <a:stretch/>
        </p:blipFill>
        <p:spPr>
          <a:xfrm>
            <a:off x="3181350" y="2639551"/>
            <a:ext cx="279400" cy="127000"/>
          </a:xfrm>
          <a:prstGeom prst="rect">
            <a:avLst/>
          </a:prstGeom>
        </p:spPr>
      </p:pic>
      <p:sp>
        <p:nvSpPr>
          <p:cNvPr id="13" name="Shape 10"/>
          <p:cNvSpPr/>
          <p:nvPr/>
        </p:nvSpPr>
        <p:spPr>
          <a:xfrm>
            <a:off x="3546475" y="2103834"/>
            <a:ext cx="2307167" cy="1198430"/>
          </a:xfrm>
          <a:prstGeom prst="roundRect">
            <a:avLst>
              <a:gd name="adj" fmla="val 5564"/>
            </a:avLst>
          </a:prstGeom>
          <a:noFill/>
          <a:ln w="19050">
            <a:solidFill>
              <a:srgbClr val="F1E8D6"/>
            </a:solidFill>
            <a:prstDash val="solid"/>
          </a:ln>
        </p:spPr>
      </p:sp>
      <p:sp>
        <p:nvSpPr>
          <p:cNvPr id="14" name="Text 11"/>
          <p:cNvSpPr/>
          <p:nvPr/>
        </p:nvSpPr>
        <p:spPr>
          <a:xfrm>
            <a:off x="3706283" y="2250945"/>
            <a:ext cx="20471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8CFF"/>
                </a:solidFill>
                <a:latin typeface="Courier Prime" pitchFamily="49" charset="0"/>
                <a:ea typeface="Courier Prime" pitchFamily="49" charset="-122"/>
                <a:cs typeface="Courier Prime" pitchFamily="49" charset="-120"/>
              </a:rPr>
              <a:t>02</a:t>
            </a:r>
            <a:endParaRPr lang="en-US" sz="1400" dirty="0"/>
          </a:p>
        </p:txBody>
      </p:sp>
      <p:sp>
        <p:nvSpPr>
          <p:cNvPr id="15" name="Text 12"/>
          <p:cNvSpPr/>
          <p:nvPr/>
        </p:nvSpPr>
        <p:spPr>
          <a:xfrm>
            <a:off x="3706283" y="2537951"/>
            <a:ext cx="2047176"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F1E8D6"/>
                </a:solidFill>
                <a:latin typeface="Big Shoulders Display" pitchFamily="34" charset="0"/>
                <a:ea typeface="Big Shoulders Display" pitchFamily="34" charset="-122"/>
                <a:cs typeface="Big Shoulders Display" pitchFamily="34" charset="-120"/>
              </a:rPr>
              <a:t>PLANOS</a:t>
            </a:r>
            <a:endParaRPr lang="en-US" sz="2600" dirty="0"/>
          </a:p>
        </p:txBody>
      </p:sp>
      <p:sp>
        <p:nvSpPr>
          <p:cNvPr id="16" name="Text 13"/>
          <p:cNvSpPr/>
          <p:nvPr/>
        </p:nvSpPr>
        <p:spPr>
          <a:xfrm>
            <a:off x="3706283" y="2906251"/>
            <a:ext cx="20471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6"/>
                </a:solidFill>
                <a:latin typeface="Instrument Sans" pitchFamily="34" charset="0"/>
                <a:ea typeface="Instrument Sans" pitchFamily="34" charset="-122"/>
                <a:cs typeface="Instrument Sans" pitchFamily="34" charset="-120"/>
              </a:rPr>
              <a:t>Detecta los cortes</a:t>
            </a:r>
            <a:endParaRPr lang="en-US" sz="1400" dirty="0"/>
          </a:p>
        </p:txBody>
      </p:sp>
      <p:pic>
        <p:nvPicPr>
          <p:cNvPr id="17" name="Image 1" descr="connector">    </p:cNvPr>
          <p:cNvPicPr>
            <a:picLocks noChangeAspect="1"/>
          </p:cNvPicPr>
          <p:nvPr/>
        </p:nvPicPr>
        <p:blipFill>
          <a:blip r:embed="rId2"/>
          <a:srcRect l="0" r="0" t="0" b="0"/>
          <a:stretch/>
        </p:blipFill>
        <p:spPr>
          <a:xfrm>
            <a:off x="5939367" y="2639551"/>
            <a:ext cx="279400" cy="127000"/>
          </a:xfrm>
          <a:prstGeom prst="rect">
            <a:avLst/>
          </a:prstGeom>
        </p:spPr>
      </p:pic>
      <p:sp>
        <p:nvSpPr>
          <p:cNvPr id="18" name="Shape 14"/>
          <p:cNvSpPr/>
          <p:nvPr/>
        </p:nvSpPr>
        <p:spPr>
          <a:xfrm>
            <a:off x="6304492" y="2103834"/>
            <a:ext cx="2307167" cy="1198430"/>
          </a:xfrm>
          <a:prstGeom prst="roundRect">
            <a:avLst>
              <a:gd name="adj" fmla="val 5564"/>
            </a:avLst>
          </a:prstGeom>
          <a:noFill/>
          <a:ln w="19050">
            <a:solidFill>
              <a:srgbClr val="F1E8D6"/>
            </a:solidFill>
            <a:prstDash val="solid"/>
          </a:ln>
        </p:spPr>
      </p:sp>
      <p:sp>
        <p:nvSpPr>
          <p:cNvPr id="19" name="Text 15"/>
          <p:cNvSpPr/>
          <p:nvPr/>
        </p:nvSpPr>
        <p:spPr>
          <a:xfrm>
            <a:off x="6464300" y="2250945"/>
            <a:ext cx="20471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8CFF"/>
                </a:solidFill>
                <a:latin typeface="Courier Prime" pitchFamily="49" charset="0"/>
                <a:ea typeface="Courier Prime" pitchFamily="49" charset="-122"/>
                <a:cs typeface="Courier Prime" pitchFamily="49" charset="-120"/>
              </a:rPr>
              <a:t>03</a:t>
            </a:r>
            <a:endParaRPr lang="en-US" sz="1400" dirty="0"/>
          </a:p>
        </p:txBody>
      </p:sp>
      <p:sp>
        <p:nvSpPr>
          <p:cNvPr id="20" name="Text 16"/>
          <p:cNvSpPr/>
          <p:nvPr/>
        </p:nvSpPr>
        <p:spPr>
          <a:xfrm>
            <a:off x="6464300" y="2537951"/>
            <a:ext cx="2047176"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F1E8D6"/>
                </a:solidFill>
                <a:latin typeface="Big Shoulders Display" pitchFamily="34" charset="0"/>
                <a:ea typeface="Big Shoulders Display" pitchFamily="34" charset="-122"/>
                <a:cs typeface="Big Shoulders Display" pitchFamily="34" charset="-120"/>
              </a:rPr>
              <a:t>PERSONAS</a:t>
            </a:r>
            <a:endParaRPr lang="en-US" sz="2600" dirty="0"/>
          </a:p>
        </p:txBody>
      </p:sp>
      <p:sp>
        <p:nvSpPr>
          <p:cNvPr id="21" name="Text 17"/>
          <p:cNvSpPr/>
          <p:nvPr/>
        </p:nvSpPr>
        <p:spPr>
          <a:xfrm>
            <a:off x="6464300" y="2906251"/>
            <a:ext cx="20471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6"/>
                </a:solidFill>
                <a:latin typeface="Instrument Sans" pitchFamily="34" charset="0"/>
                <a:ea typeface="Instrument Sans" pitchFamily="34" charset="-122"/>
                <a:cs typeface="Instrument Sans" pitchFamily="34" charset="-120"/>
              </a:rPr>
              <a:t>Las encuentra</a:t>
            </a:r>
            <a:endParaRPr lang="en-US" sz="1400" dirty="0"/>
          </a:p>
        </p:txBody>
      </p:sp>
      <p:pic>
        <p:nvPicPr>
          <p:cNvPr id="22" name="Image 2" descr="connector">    </p:cNvPr>
          <p:cNvPicPr>
            <a:picLocks noChangeAspect="1"/>
          </p:cNvPicPr>
          <p:nvPr/>
        </p:nvPicPr>
        <p:blipFill>
          <a:blip r:embed="rId3"/>
          <a:srcRect l="0" r="0" t="0" b="0"/>
          <a:stretch/>
        </p:blipFill>
        <p:spPr>
          <a:xfrm>
            <a:off x="8697384" y="2639551"/>
            <a:ext cx="279400" cy="127000"/>
          </a:xfrm>
          <a:prstGeom prst="rect">
            <a:avLst/>
          </a:prstGeom>
        </p:spPr>
      </p:pic>
      <p:sp>
        <p:nvSpPr>
          <p:cNvPr id="23" name="Shape 18"/>
          <p:cNvSpPr/>
          <p:nvPr/>
        </p:nvSpPr>
        <p:spPr>
          <a:xfrm>
            <a:off x="9062509" y="2103834"/>
            <a:ext cx="2307167" cy="1198430"/>
          </a:xfrm>
          <a:prstGeom prst="roundRect">
            <a:avLst>
              <a:gd name="adj" fmla="val 5564"/>
            </a:avLst>
          </a:prstGeom>
          <a:noFill/>
          <a:ln w="19050">
            <a:solidFill>
              <a:srgbClr val="F1E8D6"/>
            </a:solidFill>
            <a:prstDash val="solid"/>
          </a:ln>
        </p:spPr>
      </p:sp>
      <p:sp>
        <p:nvSpPr>
          <p:cNvPr id="24" name="Text 19"/>
          <p:cNvSpPr/>
          <p:nvPr/>
        </p:nvSpPr>
        <p:spPr>
          <a:xfrm>
            <a:off x="9222317" y="2250945"/>
            <a:ext cx="20471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8CFF"/>
                </a:solidFill>
                <a:latin typeface="Courier Prime" pitchFamily="49" charset="0"/>
                <a:ea typeface="Courier Prime" pitchFamily="49" charset="-122"/>
                <a:cs typeface="Courier Prime" pitchFamily="49" charset="-120"/>
              </a:rPr>
              <a:t>04</a:t>
            </a:r>
            <a:endParaRPr lang="en-US" sz="1400" dirty="0"/>
          </a:p>
        </p:txBody>
      </p:sp>
      <p:sp>
        <p:nvSpPr>
          <p:cNvPr id="25" name="Text 20"/>
          <p:cNvSpPr/>
          <p:nvPr/>
        </p:nvSpPr>
        <p:spPr>
          <a:xfrm>
            <a:off x="9222317" y="2537951"/>
            <a:ext cx="2047176"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F1E8D6"/>
                </a:solidFill>
                <a:latin typeface="Big Shoulders Display" pitchFamily="34" charset="0"/>
                <a:ea typeface="Big Shoulders Display" pitchFamily="34" charset="-122"/>
                <a:cs typeface="Big Shoulders Display" pitchFamily="34" charset="-120"/>
              </a:rPr>
              <a:t>SEGUIMIENTO</a:t>
            </a:r>
            <a:endParaRPr lang="en-US" sz="2600" dirty="0"/>
          </a:p>
        </p:txBody>
      </p:sp>
      <p:sp>
        <p:nvSpPr>
          <p:cNvPr id="26" name="Text 21"/>
          <p:cNvSpPr/>
          <p:nvPr/>
        </p:nvSpPr>
        <p:spPr>
          <a:xfrm>
            <a:off x="9222317" y="2906251"/>
            <a:ext cx="20471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6"/>
                </a:solidFill>
                <a:latin typeface="Instrument Sans" pitchFamily="34" charset="0"/>
                <a:ea typeface="Instrument Sans" pitchFamily="34" charset="-122"/>
                <a:cs typeface="Instrument Sans" pitchFamily="34" charset="-120"/>
              </a:rPr>
              <a:t>Las sigue en el plano</a:t>
            </a:r>
            <a:endParaRPr lang="en-US" sz="1400" dirty="0"/>
          </a:p>
        </p:txBody>
      </p:sp>
      <p:pic>
        <p:nvPicPr>
          <p:cNvPr id="27" name="Image 3" descr="connector">    </p:cNvPr>
          <p:cNvPicPr>
            <a:picLocks noChangeAspect="1"/>
          </p:cNvPicPr>
          <p:nvPr/>
        </p:nvPicPr>
        <p:blipFill>
          <a:blip r:embed="rId4"/>
          <a:srcRect l="0" r="0" t="0" b="0"/>
          <a:stretch/>
        </p:blipFill>
        <p:spPr>
          <a:xfrm>
            <a:off x="10490200" y="3370926"/>
            <a:ext cx="127000" cy="304800"/>
          </a:xfrm>
          <a:prstGeom prst="rect">
            <a:avLst/>
          </a:prstGeom>
        </p:spPr>
      </p:pic>
      <p:sp>
        <p:nvSpPr>
          <p:cNvPr id="28" name="Shape 22"/>
          <p:cNvSpPr/>
          <p:nvPr/>
        </p:nvSpPr>
        <p:spPr>
          <a:xfrm>
            <a:off x="812800" y="3864242"/>
            <a:ext cx="2292350" cy="1183614"/>
          </a:xfrm>
          <a:prstGeom prst="roundRect">
            <a:avLst>
              <a:gd name="adj" fmla="val 6438"/>
            </a:avLst>
          </a:prstGeom>
          <a:solidFill>
            <a:srgbClr val="B48CFF"/>
          </a:solidFill>
          <a:ln/>
        </p:spPr>
      </p:sp>
      <p:sp>
        <p:nvSpPr>
          <p:cNvPr id="29" name="Text 23"/>
          <p:cNvSpPr/>
          <p:nvPr/>
        </p:nvSpPr>
        <p:spPr>
          <a:xfrm>
            <a:off x="965200" y="4003942"/>
            <a:ext cx="20471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D0C0A"/>
                </a:solidFill>
                <a:latin typeface="Courier Prime" pitchFamily="49" charset="0"/>
                <a:ea typeface="Courier Prime" pitchFamily="49" charset="-122"/>
                <a:cs typeface="Courier Prime" pitchFamily="49" charset="-120"/>
              </a:rPr>
              <a:t>08</a:t>
            </a:r>
            <a:endParaRPr lang="en-US" sz="1400" dirty="0"/>
          </a:p>
        </p:txBody>
      </p:sp>
      <p:sp>
        <p:nvSpPr>
          <p:cNvPr id="30" name="Text 24"/>
          <p:cNvSpPr/>
          <p:nvPr/>
        </p:nvSpPr>
        <p:spPr>
          <a:xfrm>
            <a:off x="965200" y="4290947"/>
            <a:ext cx="2047176"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0D0C0A"/>
                </a:solidFill>
                <a:latin typeface="Big Shoulders Display" pitchFamily="34" charset="0"/>
                <a:ea typeface="Big Shoulders Display" pitchFamily="34" charset="-122"/>
                <a:cs typeface="Big Shoulders Display" pitchFamily="34" charset="-120"/>
              </a:rPr>
              <a:t>REVISIÓN</a:t>
            </a:r>
            <a:endParaRPr lang="en-US" sz="2600" dirty="0"/>
          </a:p>
        </p:txBody>
      </p:sp>
      <p:sp>
        <p:nvSpPr>
          <p:cNvPr id="31" name="Text 25"/>
          <p:cNvSpPr/>
          <p:nvPr/>
        </p:nvSpPr>
        <p:spPr>
          <a:xfrm>
            <a:off x="965200" y="4659247"/>
            <a:ext cx="20471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D0C0A"/>
                </a:solidFill>
                <a:latin typeface="Instrument Sans" pitchFamily="34" charset="0"/>
                <a:ea typeface="Instrument Sans" pitchFamily="34" charset="-122"/>
                <a:cs typeface="Instrument Sans" pitchFamily="34" charset="-120"/>
              </a:rPr>
              <a:t>Una persona valida</a:t>
            </a:r>
            <a:endParaRPr lang="en-US" sz="1400" dirty="0"/>
          </a:p>
        </p:txBody>
      </p:sp>
      <p:pic>
        <p:nvPicPr>
          <p:cNvPr id="32" name="Image 4" descr="connector">    </p:cNvPr>
          <p:cNvPicPr>
            <a:picLocks noChangeAspect="1"/>
          </p:cNvPicPr>
          <p:nvPr/>
        </p:nvPicPr>
        <p:blipFill>
          <a:blip r:embed="rId5"/>
          <a:srcRect l="0" r="0" t="0" b="0"/>
          <a:stretch/>
        </p:blipFill>
        <p:spPr>
          <a:xfrm>
            <a:off x="3181350" y="4392547"/>
            <a:ext cx="279400" cy="127000"/>
          </a:xfrm>
          <a:prstGeom prst="rect">
            <a:avLst/>
          </a:prstGeom>
        </p:spPr>
      </p:pic>
      <p:sp>
        <p:nvSpPr>
          <p:cNvPr id="33" name="Shape 26"/>
          <p:cNvSpPr/>
          <p:nvPr/>
        </p:nvSpPr>
        <p:spPr>
          <a:xfrm>
            <a:off x="3546475" y="3856831"/>
            <a:ext cx="2307167" cy="1198430"/>
          </a:xfrm>
          <a:prstGeom prst="roundRect">
            <a:avLst>
              <a:gd name="adj" fmla="val 5564"/>
            </a:avLst>
          </a:prstGeom>
          <a:noFill/>
          <a:ln w="19050">
            <a:solidFill>
              <a:srgbClr val="F1E8D6"/>
            </a:solidFill>
            <a:prstDash val="solid"/>
          </a:ln>
        </p:spPr>
      </p:sp>
      <p:sp>
        <p:nvSpPr>
          <p:cNvPr id="34" name="Text 27"/>
          <p:cNvSpPr/>
          <p:nvPr/>
        </p:nvSpPr>
        <p:spPr>
          <a:xfrm>
            <a:off x="3706283" y="4003942"/>
            <a:ext cx="20471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8CFF"/>
                </a:solidFill>
                <a:latin typeface="Courier Prime" pitchFamily="49" charset="0"/>
                <a:ea typeface="Courier Prime" pitchFamily="49" charset="-122"/>
                <a:cs typeface="Courier Prime" pitchFamily="49" charset="-120"/>
              </a:rPr>
              <a:t>07</a:t>
            </a:r>
            <a:endParaRPr lang="en-US" sz="1400" dirty="0"/>
          </a:p>
        </p:txBody>
      </p:sp>
      <p:sp>
        <p:nvSpPr>
          <p:cNvPr id="35" name="Text 28"/>
          <p:cNvSpPr/>
          <p:nvPr/>
        </p:nvSpPr>
        <p:spPr>
          <a:xfrm>
            <a:off x="3706283" y="4290947"/>
            <a:ext cx="2047176"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F1E8D6"/>
                </a:solidFill>
                <a:latin typeface="Big Shoulders Display" pitchFamily="34" charset="0"/>
                <a:ea typeface="Big Shoulders Display" pitchFamily="34" charset="-122"/>
                <a:cs typeface="Big Shoulders Display" pitchFamily="34" charset="-120"/>
              </a:rPr>
              <a:t>MÉTRICAS</a:t>
            </a:r>
            <a:endParaRPr lang="en-US" sz="2600" dirty="0"/>
          </a:p>
        </p:txBody>
      </p:sp>
      <p:sp>
        <p:nvSpPr>
          <p:cNvPr id="36" name="Text 29"/>
          <p:cNvSpPr/>
          <p:nvPr/>
        </p:nvSpPr>
        <p:spPr>
          <a:xfrm>
            <a:off x="3706283" y="4659247"/>
            <a:ext cx="20471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6"/>
                </a:solidFill>
                <a:latin typeface="Instrument Sans" pitchFamily="34" charset="0"/>
                <a:ea typeface="Instrument Sans" pitchFamily="34" charset="-122"/>
                <a:cs typeface="Instrument Sans" pitchFamily="34" charset="-120"/>
              </a:rPr>
              <a:t>Los porcentajes</a:t>
            </a:r>
            <a:endParaRPr lang="en-US" sz="1400" dirty="0"/>
          </a:p>
        </p:txBody>
      </p:sp>
      <p:pic>
        <p:nvPicPr>
          <p:cNvPr id="37" name="Image 5" descr="connector">    </p:cNvPr>
          <p:cNvPicPr>
            <a:picLocks noChangeAspect="1"/>
          </p:cNvPicPr>
          <p:nvPr/>
        </p:nvPicPr>
        <p:blipFill>
          <a:blip r:embed="rId6"/>
          <a:srcRect l="0" r="0" t="0" b="0"/>
          <a:stretch/>
        </p:blipFill>
        <p:spPr>
          <a:xfrm>
            <a:off x="5939367" y="4392547"/>
            <a:ext cx="279400" cy="127000"/>
          </a:xfrm>
          <a:prstGeom prst="rect">
            <a:avLst/>
          </a:prstGeom>
        </p:spPr>
      </p:pic>
      <p:sp>
        <p:nvSpPr>
          <p:cNvPr id="38" name="Shape 30"/>
          <p:cNvSpPr/>
          <p:nvPr/>
        </p:nvSpPr>
        <p:spPr>
          <a:xfrm>
            <a:off x="6304492" y="3732411"/>
            <a:ext cx="2307167" cy="1447337"/>
          </a:xfrm>
          <a:prstGeom prst="roundRect">
            <a:avLst>
              <a:gd name="adj" fmla="val 4607"/>
            </a:avLst>
          </a:prstGeom>
          <a:noFill/>
          <a:ln w="19050">
            <a:solidFill>
              <a:srgbClr val="F1E8D6"/>
            </a:solidFill>
            <a:prstDash val="solid"/>
          </a:ln>
        </p:spPr>
      </p:sp>
      <p:sp>
        <p:nvSpPr>
          <p:cNvPr id="39" name="Text 31"/>
          <p:cNvSpPr/>
          <p:nvPr/>
        </p:nvSpPr>
        <p:spPr>
          <a:xfrm>
            <a:off x="6464300" y="3879521"/>
            <a:ext cx="20471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8CFF"/>
                </a:solidFill>
                <a:latin typeface="Courier Prime" pitchFamily="49" charset="0"/>
                <a:ea typeface="Courier Prime" pitchFamily="49" charset="-122"/>
                <a:cs typeface="Courier Prime" pitchFamily="49" charset="-120"/>
              </a:rPr>
              <a:t>06</a:t>
            </a:r>
            <a:endParaRPr lang="en-US" sz="1400" dirty="0"/>
          </a:p>
        </p:txBody>
      </p:sp>
      <p:sp>
        <p:nvSpPr>
          <p:cNvPr id="40" name="Text 32"/>
          <p:cNvSpPr/>
          <p:nvPr/>
        </p:nvSpPr>
        <p:spPr>
          <a:xfrm>
            <a:off x="6464300" y="4166527"/>
            <a:ext cx="2047176"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F1E8D6"/>
                </a:solidFill>
                <a:latin typeface="Big Shoulders Display" pitchFamily="34" charset="0"/>
                <a:ea typeface="Big Shoulders Display" pitchFamily="34" charset="-122"/>
                <a:cs typeface="Big Shoulders Display" pitchFamily="34" charset="-120"/>
              </a:rPr>
              <a:t>VOTACIÓN</a:t>
            </a:r>
            <a:endParaRPr lang="en-US" sz="2600" dirty="0"/>
          </a:p>
        </p:txBody>
      </p:sp>
      <p:sp>
        <p:nvSpPr>
          <p:cNvPr id="41" name="Text 33"/>
          <p:cNvSpPr/>
          <p:nvPr/>
        </p:nvSpPr>
        <p:spPr>
          <a:xfrm>
            <a:off x="6464300" y="4534827"/>
            <a:ext cx="204717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6"/>
                </a:solidFill>
                <a:latin typeface="Instrument Sans" pitchFamily="34" charset="0"/>
                <a:ea typeface="Instrument Sans" pitchFamily="34" charset="-122"/>
                <a:cs typeface="Instrument Sans" pitchFamily="34" charset="-120"/>
              </a:rPr>
              <a:t>Una etiqueta por persona</a:t>
            </a:r>
            <a:endParaRPr lang="en-US" sz="1400" dirty="0"/>
          </a:p>
        </p:txBody>
      </p:sp>
      <p:pic>
        <p:nvPicPr>
          <p:cNvPr id="42" name="Image 6" descr="connector">    </p:cNvPr>
          <p:cNvPicPr>
            <a:picLocks noChangeAspect="1"/>
          </p:cNvPicPr>
          <p:nvPr/>
        </p:nvPicPr>
        <p:blipFill>
          <a:blip r:embed="rId7"/>
          <a:srcRect l="0" r="0" t="0" b="0"/>
          <a:stretch/>
        </p:blipFill>
        <p:spPr>
          <a:xfrm>
            <a:off x="8697384" y="4392547"/>
            <a:ext cx="279400" cy="127000"/>
          </a:xfrm>
          <a:prstGeom prst="rect">
            <a:avLst/>
          </a:prstGeom>
        </p:spPr>
      </p:pic>
      <p:sp>
        <p:nvSpPr>
          <p:cNvPr id="43" name="Shape 34"/>
          <p:cNvSpPr/>
          <p:nvPr/>
        </p:nvSpPr>
        <p:spPr>
          <a:xfrm>
            <a:off x="9062509" y="3856831"/>
            <a:ext cx="2307167" cy="1198430"/>
          </a:xfrm>
          <a:prstGeom prst="roundRect">
            <a:avLst>
              <a:gd name="adj" fmla="val 5564"/>
            </a:avLst>
          </a:prstGeom>
          <a:noFill/>
          <a:ln w="19050">
            <a:solidFill>
              <a:srgbClr val="F1E8D6"/>
            </a:solidFill>
            <a:prstDash val="solid"/>
          </a:ln>
        </p:spPr>
      </p:sp>
      <p:sp>
        <p:nvSpPr>
          <p:cNvPr id="44" name="Text 35"/>
          <p:cNvSpPr/>
          <p:nvPr/>
        </p:nvSpPr>
        <p:spPr>
          <a:xfrm>
            <a:off x="9222317" y="4003942"/>
            <a:ext cx="20471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8CFF"/>
                </a:solidFill>
                <a:latin typeface="Courier Prime" pitchFamily="49" charset="0"/>
                <a:ea typeface="Courier Prime" pitchFamily="49" charset="-122"/>
                <a:cs typeface="Courier Prime" pitchFamily="49" charset="-120"/>
              </a:rPr>
              <a:t>05</a:t>
            </a:r>
            <a:endParaRPr lang="en-US" sz="1400" dirty="0"/>
          </a:p>
        </p:txBody>
      </p:sp>
      <p:sp>
        <p:nvSpPr>
          <p:cNvPr id="45" name="Text 36"/>
          <p:cNvSpPr/>
          <p:nvPr/>
        </p:nvSpPr>
        <p:spPr>
          <a:xfrm>
            <a:off x="9222317" y="4290947"/>
            <a:ext cx="2047176"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F1E8D6"/>
                </a:solidFill>
                <a:latin typeface="Big Shoulders Display" pitchFamily="34" charset="0"/>
                <a:ea typeface="Big Shoulders Display" pitchFamily="34" charset="-122"/>
                <a:cs typeface="Big Shoulders Display" pitchFamily="34" charset="-120"/>
              </a:rPr>
              <a:t>¿MUJER?</a:t>
            </a:r>
            <a:endParaRPr lang="en-US" sz="2600" dirty="0"/>
          </a:p>
        </p:txBody>
      </p:sp>
      <p:sp>
        <p:nvSpPr>
          <p:cNvPr id="46" name="Text 37"/>
          <p:cNvSpPr/>
          <p:nvPr/>
        </p:nvSpPr>
        <p:spPr>
          <a:xfrm>
            <a:off x="9222317" y="4659247"/>
            <a:ext cx="20471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6"/>
                </a:solidFill>
                <a:latin typeface="Instrument Sans" pitchFamily="34" charset="0"/>
                <a:ea typeface="Instrument Sans" pitchFamily="34" charset="-122"/>
                <a:cs typeface="Instrument Sans" pitchFamily="34" charset="-120"/>
              </a:rPr>
              <a:t>Analiza las caras</a:t>
            </a:r>
            <a:endParaRPr lang="en-US" sz="1400" dirty="0"/>
          </a:p>
        </p:txBody>
      </p:sp>
      <p:sp>
        <p:nvSpPr>
          <p:cNvPr id="47" name="Text 38"/>
          <p:cNvSpPr/>
          <p:nvPr/>
        </p:nvSpPr>
        <p:spPr>
          <a:xfrm>
            <a:off x="812800" y="5473502"/>
            <a:ext cx="10883392" cy="292298"/>
          </a:xfrm>
          <a:prstGeom prst="rect">
            <a:avLst/>
          </a:prstGeom>
          <a:noFill/>
          <a:ln/>
        </p:spPr>
        <p:txBody>
          <a:bodyPr wrap="square" lIns="0" tIns="0" rIns="0" bIns="0" rtlCol="0" anchor="t">
            <a:normAutofit/>
          </a:bodyPr>
          <a:lstStyle/>
          <a:p>
            <a:pPr algn="l" indent="0" marL="0">
              <a:lnSpc>
                <a:spcPts val="2120"/>
              </a:lnSpc>
              <a:buNone/>
            </a:pPr>
            <a:r>
              <a:rPr lang="en-US" sz="1570" dirty="0">
                <a:solidFill>
                  <a:srgbClr val="F1E8D6"/>
                </a:solidFill>
                <a:latin typeface="Instrument Sans" pitchFamily="34" charset="0"/>
                <a:ea typeface="Instrument Sans" pitchFamily="34" charset="-122"/>
                <a:cs typeface="Instrument Sans" pitchFamily="34" charset="-120"/>
              </a:rPr>
              <a:t>Todo con modelos abiertos. Cambiar un modelo es cambiar una línea de configuración.</a:t>
            </a:r>
            <a:endParaRPr lang="en-US" sz="1570" dirty="0"/>
          </a:p>
        </p:txBody>
      </p:sp>
      <p:sp>
        <p:nvSpPr>
          <p:cNvPr id="48" name="Text 39"/>
          <p:cNvSpPr/>
          <p:nvPr/>
        </p:nvSpPr>
        <p:spPr>
          <a:xfrm>
            <a:off x="812800" y="6118889"/>
            <a:ext cx="78486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ADA’S HEIRS</a:t>
            </a:r>
            <a:endParaRPr lang="en-US" sz="1300" dirty="0"/>
          </a:p>
        </p:txBody>
      </p:sp>
      <p:sp>
        <p:nvSpPr>
          <p:cNvPr id="49" name="Text 40"/>
          <p:cNvSpPr/>
          <p:nvPr/>
        </p:nvSpPr>
        <p:spPr>
          <a:xfrm>
            <a:off x="10058400" y="61188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812800" y="85473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50" kern="0" dirty="0">
                <a:solidFill>
                  <a:srgbClr val="B48CFF"/>
                </a:solidFill>
                <a:latin typeface="Courier Prime" pitchFamily="49" charset="0"/>
                <a:ea typeface="Courier Prime" pitchFamily="49" charset="-122"/>
                <a:cs typeface="Courier Prime" pitchFamily="49" charset="-120"/>
              </a:rPr>
              <a:t>CÓMO FUNCIONA</a:t>
            </a:r>
            <a:endParaRPr lang="en-US" sz="1500" dirty="0"/>
          </a:p>
        </p:txBody>
      </p:sp>
      <p:sp>
        <p:nvSpPr>
          <p:cNvPr id="7" name="Text 5"/>
          <p:cNvSpPr/>
          <p:nvPr>
            <p:ph type="title"/>
          </p:nvPr>
        </p:nvSpPr>
        <p:spPr>
          <a:xfrm>
            <a:off x="812800" y="1248439"/>
            <a:ext cx="10883392" cy="652727"/>
          </a:xfrm>
          <a:prstGeom prst="rect">
            <a:avLst/>
          </a:prstGeom>
          <a:noFill/>
          <a:ln/>
        </p:spPr>
        <p:txBody>
          <a:bodyPr wrap="square" lIns="0" tIns="0" rIns="0" bIns="0" rtlCol="0" anchor="t">
            <a:normAutofit/>
          </a:bodyPr>
          <a:lstStyle/>
          <a:p>
            <a:pPr algn="l" indent="0" marL="0">
              <a:lnSpc>
                <a:spcPts val="4940"/>
              </a:lnSpc>
              <a:buNone/>
            </a:pPr>
            <a:r>
              <a:rPr lang="en-US" sz="5200" b="1" i="0" dirty="0">
                <a:solidFill>
                  <a:srgbClr val="F1E8D6"/>
                </a:solidFill>
                <a:latin typeface="Big Shoulders Display" pitchFamily="34" charset="0"/>
                <a:ea typeface="Big Shoulders Display" pitchFamily="34" charset="-122"/>
                <a:cs typeface="Big Shoulders Display" pitchFamily="34" charset="-120"/>
              </a:rPr>
              <a:t>CUATRO DECISIONES CLAVE</a:t>
            </a:r>
            <a:endParaRPr lang="en-US" sz="5200" dirty="0"/>
          </a:p>
        </p:txBody>
      </p:sp>
      <p:sp>
        <p:nvSpPr>
          <p:cNvPr id="8" name="Shape 6"/>
          <p:cNvSpPr/>
          <p:nvPr/>
        </p:nvSpPr>
        <p:spPr>
          <a:xfrm>
            <a:off x="831850" y="2231365"/>
            <a:ext cx="0" cy="590550"/>
          </a:xfrm>
          <a:prstGeom prst="line">
            <a:avLst/>
          </a:prstGeom>
          <a:noFill/>
          <a:ln w="38100">
            <a:solidFill>
              <a:srgbClr val="B48CFF"/>
            </a:solidFill>
            <a:prstDash val="solid"/>
          </a:ln>
        </p:spPr>
      </p:sp>
      <p:sp>
        <p:nvSpPr>
          <p:cNvPr id="9" name="Text 7"/>
          <p:cNvSpPr/>
          <p:nvPr/>
        </p:nvSpPr>
        <p:spPr>
          <a:xfrm>
            <a:off x="1028700" y="2231365"/>
            <a:ext cx="5166995"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E8D6"/>
                </a:solidFill>
                <a:latin typeface="Big Shoulders Display" pitchFamily="34" charset="0"/>
                <a:ea typeface="Big Shoulders Display" pitchFamily="34" charset="-122"/>
                <a:cs typeface="Big Shoulders Display" pitchFamily="34" charset="-120"/>
              </a:rPr>
              <a:t>PLANOS SOLO POR BRILLO</a:t>
            </a:r>
            <a:endParaRPr lang="en-US" sz="2400" dirty="0"/>
          </a:p>
        </p:txBody>
      </p:sp>
      <p:sp>
        <p:nvSpPr>
          <p:cNvPr id="10" name="Text 8"/>
          <p:cNvSpPr/>
          <p:nvPr/>
        </p:nvSpPr>
        <p:spPr>
          <a:xfrm>
            <a:off x="1028700" y="2574265"/>
            <a:ext cx="516699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1E8D6"/>
                </a:solidFill>
                <a:latin typeface="Instrument Sans" pitchFamily="34" charset="0"/>
                <a:ea typeface="Instrument Sans" pitchFamily="34" charset="-122"/>
                <a:cs typeface="Instrument Sans" pitchFamily="34" charset="-120"/>
              </a:rPr>
              <a:t>Con color no detectaba ni un corte en blanco y negro.</a:t>
            </a:r>
            <a:endParaRPr lang="en-US" sz="1500" dirty="0"/>
          </a:p>
        </p:txBody>
      </p:sp>
      <p:sp>
        <p:nvSpPr>
          <p:cNvPr id="11" name="Shape 9"/>
          <p:cNvSpPr/>
          <p:nvPr/>
        </p:nvSpPr>
        <p:spPr>
          <a:xfrm>
            <a:off x="831850" y="3025115"/>
            <a:ext cx="0" cy="838200"/>
          </a:xfrm>
          <a:prstGeom prst="line">
            <a:avLst/>
          </a:prstGeom>
          <a:noFill/>
          <a:ln w="38100">
            <a:solidFill>
              <a:srgbClr val="B48CFF"/>
            </a:solidFill>
            <a:prstDash val="solid"/>
          </a:ln>
        </p:spPr>
      </p:sp>
      <p:sp>
        <p:nvSpPr>
          <p:cNvPr id="12" name="Text 10"/>
          <p:cNvSpPr/>
          <p:nvPr/>
        </p:nvSpPr>
        <p:spPr>
          <a:xfrm>
            <a:off x="1028700" y="3025115"/>
            <a:ext cx="5166995"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E8D6"/>
                </a:solidFill>
                <a:latin typeface="Big Shoulders Display" pitchFamily="34" charset="0"/>
                <a:ea typeface="Big Shoulders Display" pitchFamily="34" charset="-122"/>
                <a:cs typeface="Big Shoulders Display" pitchFamily="34" charset="-120"/>
              </a:rPr>
              <a:t>UN DETECTOR CON LICENCIA LIBRE</a:t>
            </a:r>
            <a:endParaRPr lang="en-US" sz="2400" dirty="0"/>
          </a:p>
        </p:txBody>
      </p:sp>
      <p:sp>
        <p:nvSpPr>
          <p:cNvPr id="13" name="Text 11"/>
          <p:cNvSpPr/>
          <p:nvPr/>
        </p:nvSpPr>
        <p:spPr>
          <a:xfrm>
            <a:off x="1028700" y="3368015"/>
            <a:ext cx="516699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1E8D6"/>
                </a:solidFill>
                <a:latin typeface="Instrument Sans" pitchFamily="34" charset="0"/>
                <a:ea typeface="Instrument Sans" pitchFamily="34" charset="-122"/>
                <a:cs typeface="Instrument Sans" pitchFamily="34" charset="-120"/>
              </a:rPr>
              <a:t>torchvision en vez de YOLO, cuya licencia nos obligaría a cambiar la nuestra.</a:t>
            </a:r>
            <a:endParaRPr lang="en-US" sz="1500" dirty="0"/>
          </a:p>
        </p:txBody>
      </p:sp>
      <p:sp>
        <p:nvSpPr>
          <p:cNvPr id="14" name="Shape 12"/>
          <p:cNvSpPr/>
          <p:nvPr/>
        </p:nvSpPr>
        <p:spPr>
          <a:xfrm>
            <a:off x="831850" y="4066515"/>
            <a:ext cx="0" cy="590550"/>
          </a:xfrm>
          <a:prstGeom prst="line">
            <a:avLst/>
          </a:prstGeom>
          <a:noFill/>
          <a:ln w="38100">
            <a:solidFill>
              <a:srgbClr val="B48CFF"/>
            </a:solidFill>
            <a:prstDash val="solid"/>
          </a:ln>
        </p:spPr>
      </p:sp>
      <p:sp>
        <p:nvSpPr>
          <p:cNvPr id="15" name="Text 13"/>
          <p:cNvSpPr/>
          <p:nvPr/>
        </p:nvSpPr>
        <p:spPr>
          <a:xfrm>
            <a:off x="1028700" y="4066515"/>
            <a:ext cx="5166995"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E8D6"/>
                </a:solidFill>
                <a:latin typeface="Big Shoulders Display" pitchFamily="34" charset="0"/>
                <a:ea typeface="Big Shoulders Display" pitchFamily="34" charset="-122"/>
                <a:cs typeface="Big Shoulders Display" pitchFamily="34" charset="-120"/>
              </a:rPr>
              <a:t>VOTAR EN TODO EL PLANO</a:t>
            </a:r>
            <a:endParaRPr lang="en-US" sz="2400" dirty="0"/>
          </a:p>
        </p:txBody>
      </p:sp>
      <p:sp>
        <p:nvSpPr>
          <p:cNvPr id="16" name="Text 14"/>
          <p:cNvSpPr/>
          <p:nvPr/>
        </p:nvSpPr>
        <p:spPr>
          <a:xfrm>
            <a:off x="1028700" y="4409415"/>
            <a:ext cx="516699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1E8D6"/>
                </a:solidFill>
                <a:latin typeface="Instrument Sans" pitchFamily="34" charset="0"/>
                <a:ea typeface="Instrument Sans" pitchFamily="34" charset="-122"/>
                <a:cs typeface="Instrument Sans" pitchFamily="34" charset="-120"/>
              </a:rPr>
              <a:t>Un fotograma suelto falla; muchos juntos, mucho menos.</a:t>
            </a:r>
            <a:endParaRPr lang="en-US" sz="1500" dirty="0"/>
          </a:p>
        </p:txBody>
      </p:sp>
      <p:sp>
        <p:nvSpPr>
          <p:cNvPr id="17" name="Shape 15"/>
          <p:cNvSpPr/>
          <p:nvPr/>
        </p:nvSpPr>
        <p:spPr>
          <a:xfrm>
            <a:off x="831850" y="4860265"/>
            <a:ext cx="0" cy="838200"/>
          </a:xfrm>
          <a:prstGeom prst="line">
            <a:avLst/>
          </a:prstGeom>
          <a:noFill/>
          <a:ln w="38100">
            <a:solidFill>
              <a:srgbClr val="B48CFF"/>
            </a:solidFill>
            <a:prstDash val="solid"/>
          </a:ln>
        </p:spPr>
      </p:sp>
      <p:sp>
        <p:nvSpPr>
          <p:cNvPr id="18" name="Text 16"/>
          <p:cNvSpPr/>
          <p:nvPr/>
        </p:nvSpPr>
        <p:spPr>
          <a:xfrm>
            <a:off x="1028700" y="4860265"/>
            <a:ext cx="5166995"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E8D6"/>
                </a:solidFill>
                <a:latin typeface="Big Shoulders Display" pitchFamily="34" charset="0"/>
                <a:ea typeface="Big Shoulders Display" pitchFamily="34" charset="-122"/>
                <a:cs typeface="Big Shoulders Display" pitchFamily="34" charset="-120"/>
              </a:rPr>
              <a:t>UMBRAL DEL 70 %</a:t>
            </a:r>
            <a:endParaRPr lang="en-US" sz="2400" dirty="0"/>
          </a:p>
        </p:txBody>
      </p:sp>
      <p:sp>
        <p:nvSpPr>
          <p:cNvPr id="19" name="Text 17"/>
          <p:cNvSpPr/>
          <p:nvPr/>
        </p:nvSpPr>
        <p:spPr>
          <a:xfrm>
            <a:off x="1028700" y="5203165"/>
            <a:ext cx="516699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1E8D6"/>
                </a:solidFill>
                <a:latin typeface="Instrument Sans" pitchFamily="34" charset="0"/>
                <a:ea typeface="Instrument Sans" pitchFamily="34" charset="-122"/>
                <a:cs typeface="Instrument Sans" pitchFamily="34" charset="-120"/>
              </a:rPr>
              <a:t>Probado con 6 películas: menos casos sin decidir y el % de mujeres casi no cambia.</a:t>
            </a:r>
            <a:endParaRPr lang="en-US" sz="1500" dirty="0"/>
          </a:p>
        </p:txBody>
      </p:sp>
      <p:pic>
        <p:nvPicPr>
          <p:cNvPr id="20" name="Image 0" descr="Fragmento de config.yaml: detección de planos solo por brillo y votación con umbral 0,7 y mínimo de 2 caras">    </p:cNvPr>
          <p:cNvPicPr>
            <a:picLocks noChangeAspect="1"/>
          </p:cNvPicPr>
          <p:nvPr/>
        </p:nvPicPr>
        <p:blipFill>
          <a:blip r:embed="rId1"/>
          <a:stretch>
            <a:fillRect/>
          </a:stretch>
        </p:blipFill>
        <p:spPr>
          <a:xfrm>
            <a:off x="6660984" y="3268334"/>
            <a:ext cx="4610433" cy="1060450"/>
          </a:xfrm>
          <a:prstGeom prst="rect">
            <a:avLst/>
          </a:prstGeom>
        </p:spPr>
      </p:pic>
      <p:sp>
        <p:nvSpPr>
          <p:cNvPr id="21" name="Shape 18"/>
          <p:cNvSpPr/>
          <p:nvPr/>
        </p:nvSpPr>
        <p:spPr>
          <a:xfrm>
            <a:off x="6565900" y="3255634"/>
            <a:ext cx="4800600" cy="1085850"/>
          </a:xfrm>
          <a:prstGeom prst="roundRect">
            <a:avLst>
              <a:gd name="adj" fmla="val 3509"/>
            </a:avLst>
          </a:prstGeom>
          <a:noFill/>
          <a:ln w="25400">
            <a:solidFill>
              <a:srgbClr val="F1E8D6"/>
            </a:solidFill>
            <a:prstDash val="solid"/>
          </a:ln>
        </p:spPr>
      </p:sp>
      <p:sp>
        <p:nvSpPr>
          <p:cNvPr id="22" name="Text 19"/>
          <p:cNvSpPr/>
          <p:nvPr/>
        </p:nvSpPr>
        <p:spPr>
          <a:xfrm>
            <a:off x="6553200" y="4455784"/>
            <a:ext cx="497078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1E8D6"/>
                </a:solidFill>
                <a:latin typeface="Courier Prime" pitchFamily="49" charset="0"/>
                <a:ea typeface="Courier Prime" pitchFamily="49" charset="-122"/>
                <a:cs typeface="Courier Prime" pitchFamily="49" charset="-120"/>
              </a:rPr>
              <a:t>CONFIG.YAML: UNA LÍNEA PARA CADA DECISIÓN</a:t>
            </a:r>
            <a:endParaRPr lang="en-US" sz="1300" dirty="0"/>
          </a:p>
        </p:txBody>
      </p:sp>
      <p:sp>
        <p:nvSpPr>
          <p:cNvPr id="23" name="Text 20"/>
          <p:cNvSpPr/>
          <p:nvPr/>
        </p:nvSpPr>
        <p:spPr>
          <a:xfrm>
            <a:off x="812800" y="6118889"/>
            <a:ext cx="78486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ADA’S HEIRS</a:t>
            </a:r>
            <a:endParaRPr lang="en-US" sz="1300" dirty="0"/>
          </a:p>
        </p:txBody>
      </p:sp>
      <p:sp>
        <p:nvSpPr>
          <p:cNvPr id="24" name="Text 21"/>
          <p:cNvSpPr/>
          <p:nvPr/>
        </p:nvSpPr>
        <p:spPr>
          <a:xfrm>
            <a:off x="10058400" y="61188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07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pic>
        <p:nvPicPr>
          <p:cNvPr id="6" name="Image 0" descr="Personaje femenino de Detour (1945) detectado por el sistema, recuadrado en rojo">    </p:cNvPr>
          <p:cNvPicPr>
            <a:picLocks noChangeAspect="1"/>
          </p:cNvPicPr>
          <p:nvPr/>
        </p:nvPicPr>
        <p:blipFill>
          <a:blip r:embed="rId1"/>
          <a:srcRect l="403" r="403" t="0" b="0"/>
          <a:stretch/>
        </p:blipFill>
        <p:spPr>
          <a:xfrm>
            <a:off x="838200" y="1243344"/>
            <a:ext cx="2362200" cy="3733800"/>
          </a:xfrm>
          <a:prstGeom prst="rect">
            <a:avLst/>
          </a:prstGeom>
        </p:spPr>
      </p:pic>
      <p:sp>
        <p:nvSpPr>
          <p:cNvPr id="7" name="Shape 4"/>
          <p:cNvSpPr/>
          <p:nvPr/>
        </p:nvSpPr>
        <p:spPr>
          <a:xfrm>
            <a:off x="825500" y="1230644"/>
            <a:ext cx="2387600" cy="3759200"/>
          </a:xfrm>
          <a:prstGeom prst="rect">
            <a:avLst/>
          </a:prstGeom>
          <a:noFill/>
          <a:ln w="25400">
            <a:solidFill>
              <a:srgbClr val="F1E8D6"/>
            </a:solidFill>
            <a:prstDash val="solid"/>
          </a:ln>
        </p:spPr>
      </p:sp>
      <p:pic>
        <p:nvPicPr>
          <p:cNvPr id="8" name="Image 1" descr="El mismo personaje femenino de Detour (1945) en otro momento del plano, seguido por el sistema">    </p:cNvPr>
          <p:cNvPicPr>
            <a:picLocks noChangeAspect="1"/>
          </p:cNvPicPr>
          <p:nvPr/>
        </p:nvPicPr>
        <p:blipFill>
          <a:blip r:embed="rId2"/>
          <a:srcRect l="547" r="547" t="0" b="0"/>
          <a:stretch/>
        </p:blipFill>
        <p:spPr>
          <a:xfrm>
            <a:off x="3403600" y="1243344"/>
            <a:ext cx="2108200" cy="3733800"/>
          </a:xfrm>
          <a:prstGeom prst="rect">
            <a:avLst/>
          </a:prstGeom>
        </p:spPr>
      </p:pic>
      <p:sp>
        <p:nvSpPr>
          <p:cNvPr id="9" name="Shape 5"/>
          <p:cNvSpPr/>
          <p:nvPr/>
        </p:nvSpPr>
        <p:spPr>
          <a:xfrm>
            <a:off x="3390900" y="1230644"/>
            <a:ext cx="2133600" cy="3759200"/>
          </a:xfrm>
          <a:prstGeom prst="rect">
            <a:avLst/>
          </a:prstGeom>
          <a:noFill/>
          <a:ln w="25400">
            <a:solidFill>
              <a:srgbClr val="F1E8D6"/>
            </a:solidFill>
            <a:prstDash val="solid"/>
          </a:ln>
        </p:spPr>
      </p:sp>
      <p:sp>
        <p:nvSpPr>
          <p:cNvPr id="10" name="Text 6"/>
          <p:cNvSpPr/>
          <p:nvPr/>
        </p:nvSpPr>
        <p:spPr>
          <a:xfrm>
            <a:off x="812800" y="5104147"/>
            <a:ext cx="486613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1E8D6"/>
                </a:solidFill>
                <a:latin typeface="Courier Prime" pitchFamily="49" charset="0"/>
                <a:ea typeface="Courier Prime" pitchFamily="49" charset="-122"/>
                <a:cs typeface="Courier Prime" pitchFamily="49" charset="-120"/>
              </a:rPr>
              <a:t>DETOUR (1945) · SALIDA REAL DEL SISTEMA</a:t>
            </a:r>
            <a:endParaRPr lang="en-US" sz="1300" dirty="0"/>
          </a:p>
        </p:txBody>
      </p:sp>
      <p:sp>
        <p:nvSpPr>
          <p:cNvPr id="11" name="Text 7"/>
          <p:cNvSpPr/>
          <p:nvPr/>
        </p:nvSpPr>
        <p:spPr>
          <a:xfrm>
            <a:off x="6146800" y="1385292"/>
            <a:ext cx="5389372" cy="292100"/>
          </a:xfrm>
          <a:prstGeom prst="rect">
            <a:avLst/>
          </a:prstGeom>
          <a:noFill/>
          <a:ln/>
        </p:spPr>
        <p:txBody>
          <a:bodyPr wrap="square" lIns="0" tIns="0" rIns="0" bIns="0" rtlCol="0" anchor="t">
            <a:normAutofit/>
          </a:bodyPr>
          <a:lstStyle/>
          <a:p>
            <a:pPr algn="l" indent="0" marL="0">
              <a:lnSpc>
                <a:spcPts val="2100"/>
              </a:lnSpc>
              <a:buNone/>
            </a:pPr>
            <a:r>
              <a:rPr lang="en-US" sz="1500" spc="150" kern="0" dirty="0">
                <a:solidFill>
                  <a:srgbClr val="B48CFF"/>
                </a:solidFill>
                <a:latin typeface="Courier Prime" pitchFamily="49" charset="0"/>
                <a:ea typeface="Courier Prime" pitchFamily="49" charset="-122"/>
                <a:cs typeface="Courier Prime" pitchFamily="49" charset="-120"/>
              </a:rPr>
              <a:t>EN ACCIÓN</a:t>
            </a:r>
            <a:endParaRPr lang="en-US" sz="1500" dirty="0"/>
          </a:p>
        </p:txBody>
      </p:sp>
      <p:sp>
        <p:nvSpPr>
          <p:cNvPr id="12" name="Text 8"/>
          <p:cNvSpPr/>
          <p:nvPr>
            <p:ph type="title"/>
          </p:nvPr>
        </p:nvSpPr>
        <p:spPr>
          <a:xfrm>
            <a:off x="6146800" y="1778992"/>
            <a:ext cx="5389372" cy="652727"/>
          </a:xfrm>
          <a:prstGeom prst="rect">
            <a:avLst/>
          </a:prstGeom>
          <a:noFill/>
          <a:ln/>
        </p:spPr>
        <p:txBody>
          <a:bodyPr wrap="square" lIns="0" tIns="0" rIns="0" bIns="0" rtlCol="0" anchor="t">
            <a:normAutofit/>
          </a:bodyPr>
          <a:lstStyle/>
          <a:p>
            <a:pPr algn="l" indent="0" marL="0">
              <a:lnSpc>
                <a:spcPts val="4940"/>
              </a:lnSpc>
              <a:buNone/>
            </a:pPr>
            <a:r>
              <a:rPr lang="en-US" sz="5200" b="1" i="0" dirty="0">
                <a:solidFill>
                  <a:srgbClr val="F1E8D6"/>
                </a:solidFill>
                <a:latin typeface="Big Shoulders Display" pitchFamily="34" charset="0"/>
                <a:ea typeface="Big Shoulders Display" pitchFamily="34" charset="-122"/>
                <a:cs typeface="Big Shoulders Display" pitchFamily="34" charset="-120"/>
              </a:rPr>
              <a:t>ASÍ LA VE EL SISTEMA</a:t>
            </a:r>
            <a:endParaRPr lang="en-US" sz="5200" dirty="0"/>
          </a:p>
        </p:txBody>
      </p:sp>
      <p:sp>
        <p:nvSpPr>
          <p:cNvPr id="13" name="Text 9"/>
          <p:cNvSpPr/>
          <p:nvPr/>
        </p:nvSpPr>
        <p:spPr>
          <a:xfrm>
            <a:off x="6146800" y="2660321"/>
            <a:ext cx="148299"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48CFF"/>
                </a:solidFill>
                <a:latin typeface="Big Shoulders Display" pitchFamily="34" charset="0"/>
                <a:ea typeface="Big Shoulders Display" pitchFamily="34" charset="-122"/>
                <a:cs typeface="Big Shoulders Display" pitchFamily="34" charset="-120"/>
              </a:rPr>
              <a:t>1</a:t>
            </a:r>
            <a:endParaRPr lang="en-US" sz="2800" dirty="0"/>
          </a:p>
        </p:txBody>
      </p:sp>
      <p:sp>
        <p:nvSpPr>
          <p:cNvPr id="14" name="Text 10"/>
          <p:cNvSpPr/>
          <p:nvPr/>
        </p:nvSpPr>
        <p:spPr>
          <a:xfrm>
            <a:off x="6371299" y="2816954"/>
            <a:ext cx="3019743" cy="322527"/>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1E8D6"/>
                </a:solidFill>
                <a:latin typeface="Instrument Sans" pitchFamily="34" charset="0"/>
                <a:ea typeface="Instrument Sans" pitchFamily="34" charset="-122"/>
                <a:cs typeface="Instrument Sans" pitchFamily="34" charset="-120"/>
              </a:rPr>
              <a:t>La detecta y la recuadra.</a:t>
            </a:r>
            <a:endParaRPr lang="en-US" sz="1800" dirty="0"/>
          </a:p>
        </p:txBody>
      </p:sp>
      <p:sp>
        <p:nvSpPr>
          <p:cNvPr id="15" name="Text 11"/>
          <p:cNvSpPr/>
          <p:nvPr/>
        </p:nvSpPr>
        <p:spPr>
          <a:xfrm>
            <a:off x="6146800" y="3412133"/>
            <a:ext cx="195263"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48CFF"/>
                </a:solidFill>
                <a:latin typeface="Big Shoulders Display" pitchFamily="34" charset="0"/>
                <a:ea typeface="Big Shoulders Display" pitchFamily="34" charset="-122"/>
                <a:cs typeface="Big Shoulders Display" pitchFamily="34" charset="-120"/>
              </a:rPr>
              <a:t>2</a:t>
            </a:r>
            <a:endParaRPr lang="en-US" sz="2800" dirty="0"/>
          </a:p>
        </p:txBody>
      </p:sp>
      <p:sp>
        <p:nvSpPr>
          <p:cNvPr id="16" name="Text 12"/>
          <p:cNvSpPr/>
          <p:nvPr/>
        </p:nvSpPr>
        <p:spPr>
          <a:xfrm>
            <a:off x="6418263" y="3568768"/>
            <a:ext cx="5109766" cy="619654"/>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1E8D6"/>
                </a:solidFill>
                <a:latin typeface="Instrument Sans" pitchFamily="34" charset="0"/>
                <a:ea typeface="Instrument Sans" pitchFamily="34" charset="-122"/>
                <a:cs typeface="Instrument Sans" pitchFamily="34" charset="-120"/>
              </a:rPr>
              <a:t>La sigue mientras está en el plano, con un mismo número.</a:t>
            </a:r>
            <a:endParaRPr lang="en-US" sz="1800" dirty="0"/>
          </a:p>
        </p:txBody>
      </p:sp>
      <p:sp>
        <p:nvSpPr>
          <p:cNvPr id="17" name="Text 13"/>
          <p:cNvSpPr/>
          <p:nvPr/>
        </p:nvSpPr>
        <p:spPr>
          <a:xfrm>
            <a:off x="6146800" y="4417020"/>
            <a:ext cx="177271"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48CFF"/>
                </a:solidFill>
                <a:latin typeface="Big Shoulders Display" pitchFamily="34" charset="0"/>
                <a:ea typeface="Big Shoulders Display" pitchFamily="34" charset="-122"/>
                <a:cs typeface="Big Shoulders Display" pitchFamily="34" charset="-120"/>
              </a:rPr>
              <a:t>3</a:t>
            </a:r>
            <a:endParaRPr lang="en-US" sz="2800" dirty="0"/>
          </a:p>
        </p:txBody>
      </p:sp>
      <p:sp>
        <p:nvSpPr>
          <p:cNvPr id="18" name="Text 14"/>
          <p:cNvSpPr/>
          <p:nvPr/>
        </p:nvSpPr>
        <p:spPr>
          <a:xfrm>
            <a:off x="6400271" y="4573656"/>
            <a:ext cx="5128297" cy="619654"/>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1E8D6"/>
                </a:solidFill>
                <a:latin typeface="Instrument Sans" pitchFamily="34" charset="0"/>
                <a:ea typeface="Instrument Sans" pitchFamily="34" charset="-122"/>
                <a:cs typeface="Instrument Sans" pitchFamily="34" charset="-120"/>
              </a:rPr>
              <a:t>Mide cuánto tiempo sale, su tamaño, si está sola y si ocupa el centro.</a:t>
            </a:r>
            <a:endParaRPr lang="en-US" sz="1800" dirty="0"/>
          </a:p>
        </p:txBody>
      </p:sp>
      <p:sp>
        <p:nvSpPr>
          <p:cNvPr id="19" name="Text 15"/>
          <p:cNvSpPr/>
          <p:nvPr/>
        </p:nvSpPr>
        <p:spPr>
          <a:xfrm>
            <a:off x="812800" y="6118889"/>
            <a:ext cx="78486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ADA’S HEIRS</a:t>
            </a:r>
            <a:endParaRPr lang="en-US" sz="1300" dirty="0"/>
          </a:p>
        </p:txBody>
      </p:sp>
      <p:sp>
        <p:nvSpPr>
          <p:cNvPr id="20" name="Text 16"/>
          <p:cNvSpPr/>
          <p:nvPr/>
        </p:nvSpPr>
        <p:spPr>
          <a:xfrm>
            <a:off x="10058400" y="61188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08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812800" y="132682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50" kern="0" dirty="0">
                <a:solidFill>
                  <a:srgbClr val="B48CFF"/>
                </a:solidFill>
                <a:latin typeface="Courier Prime" pitchFamily="49" charset="0"/>
                <a:ea typeface="Courier Prime" pitchFamily="49" charset="-122"/>
                <a:cs typeface="Courier Prime" pitchFamily="49" charset="-120"/>
              </a:rPr>
              <a:t>RESULTADOS · PRUEBA COMPLETA</a:t>
            </a:r>
            <a:endParaRPr lang="en-US" sz="1500" dirty="0"/>
          </a:p>
        </p:txBody>
      </p:sp>
      <p:sp>
        <p:nvSpPr>
          <p:cNvPr id="7" name="Text 5"/>
          <p:cNvSpPr/>
          <p:nvPr>
            <p:ph type="title"/>
          </p:nvPr>
        </p:nvSpPr>
        <p:spPr>
          <a:xfrm>
            <a:off x="812800" y="1720521"/>
            <a:ext cx="10883392" cy="652727"/>
          </a:xfrm>
          <a:prstGeom prst="rect">
            <a:avLst/>
          </a:prstGeom>
          <a:noFill/>
          <a:ln/>
        </p:spPr>
        <p:txBody>
          <a:bodyPr wrap="square" lIns="0" tIns="0" rIns="0" bIns="0" rtlCol="0" anchor="t">
            <a:normAutofit/>
          </a:bodyPr>
          <a:lstStyle/>
          <a:p>
            <a:pPr algn="l" indent="0" marL="0">
              <a:lnSpc>
                <a:spcPts val="4940"/>
              </a:lnSpc>
              <a:buNone/>
            </a:pPr>
            <a:r>
              <a:rPr lang="en-US" sz="5200" b="1" i="0" dirty="0">
                <a:solidFill>
                  <a:srgbClr val="F1E8D6"/>
                </a:solidFill>
                <a:latin typeface="Big Shoulders Display" pitchFamily="34" charset="0"/>
                <a:ea typeface="Big Shoulders Display" pitchFamily="34" charset="-122"/>
                <a:cs typeface="Big Shoulders Display" pitchFamily="34" charset="-120"/>
              </a:rPr>
              <a:t>5 MINUTOS DE DETOUR, DE PRINCIPIO A FIN</a:t>
            </a:r>
            <a:endParaRPr lang="en-US" sz="5200" dirty="0"/>
          </a:p>
        </p:txBody>
      </p:sp>
      <p:sp>
        <p:nvSpPr>
          <p:cNvPr id="8" name="Shape 6"/>
          <p:cNvSpPr/>
          <p:nvPr/>
        </p:nvSpPr>
        <p:spPr>
          <a:xfrm>
            <a:off x="812800" y="2771180"/>
            <a:ext cx="1740694" cy="1427427"/>
          </a:xfrm>
          <a:prstGeom prst="roundRect">
            <a:avLst>
              <a:gd name="adj" fmla="val 5338"/>
            </a:avLst>
          </a:prstGeom>
          <a:solidFill>
            <a:srgbClr val="B48CFF"/>
          </a:solidFill>
          <a:ln/>
        </p:spPr>
      </p:sp>
      <p:sp>
        <p:nvSpPr>
          <p:cNvPr id="9" name="Text 7"/>
          <p:cNvSpPr/>
          <p:nvPr/>
        </p:nvSpPr>
        <p:spPr>
          <a:xfrm>
            <a:off x="1354852" y="2948980"/>
            <a:ext cx="656590" cy="787400"/>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0D0C0A"/>
                </a:solidFill>
                <a:latin typeface="Big Shoulders Display" pitchFamily="34" charset="0"/>
                <a:ea typeface="Big Shoulders Display" pitchFamily="34" charset="-122"/>
                <a:cs typeface="Big Shoulders Display" pitchFamily="34" charset="-120"/>
              </a:rPr>
              <a:t>5'</a:t>
            </a:r>
            <a:endParaRPr lang="en-US" sz="6000" dirty="0"/>
          </a:p>
        </p:txBody>
      </p:sp>
      <p:sp>
        <p:nvSpPr>
          <p:cNvPr id="10" name="Text 8"/>
          <p:cNvSpPr/>
          <p:nvPr/>
        </p:nvSpPr>
        <p:spPr>
          <a:xfrm>
            <a:off x="1083628" y="3736380"/>
            <a:ext cx="1199039" cy="309827"/>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0D0C0A"/>
                </a:solidFill>
                <a:latin typeface="Instrument Sans" pitchFamily="34" charset="0"/>
                <a:ea typeface="Instrument Sans" pitchFamily="34" charset="-122"/>
                <a:cs typeface="Instrument Sans" pitchFamily="34" charset="-120"/>
              </a:rPr>
              <a:t>de película</a:t>
            </a:r>
            <a:endParaRPr lang="en-US" sz="1600" dirty="0"/>
          </a:p>
        </p:txBody>
      </p:sp>
      <p:pic>
        <p:nvPicPr>
          <p:cNvPr id="11" name="Image 0" descr="connector">    </p:cNvPr>
          <p:cNvPicPr>
            <a:picLocks noChangeAspect="1"/>
          </p:cNvPicPr>
          <p:nvPr/>
        </p:nvPicPr>
        <p:blipFill>
          <a:blip r:embed="rId1"/>
          <a:srcRect l="0" r="0" t="0" b="0"/>
          <a:stretch/>
        </p:blipFill>
        <p:spPr>
          <a:xfrm>
            <a:off x="2629694" y="3421397"/>
            <a:ext cx="279400" cy="127000"/>
          </a:xfrm>
          <a:prstGeom prst="rect">
            <a:avLst/>
          </a:prstGeom>
        </p:spPr>
      </p:pic>
      <p:sp>
        <p:nvSpPr>
          <p:cNvPr id="12" name="Shape 9"/>
          <p:cNvSpPr/>
          <p:nvPr/>
        </p:nvSpPr>
        <p:spPr>
          <a:xfrm>
            <a:off x="2994819" y="2763775"/>
            <a:ext cx="1755577" cy="1442244"/>
          </a:xfrm>
          <a:prstGeom prst="roundRect">
            <a:avLst>
              <a:gd name="adj" fmla="val 4623"/>
            </a:avLst>
          </a:prstGeom>
          <a:noFill/>
          <a:ln w="19050">
            <a:solidFill>
              <a:srgbClr val="F1E8D6"/>
            </a:solidFill>
            <a:prstDash val="solid"/>
          </a:ln>
        </p:spPr>
      </p:sp>
      <p:sp>
        <p:nvSpPr>
          <p:cNvPr id="13" name="Text 10"/>
          <p:cNvSpPr/>
          <p:nvPr/>
        </p:nvSpPr>
        <p:spPr>
          <a:xfrm>
            <a:off x="3178519" y="2948980"/>
            <a:ext cx="1388110" cy="787400"/>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F1E8D6"/>
                </a:solidFill>
                <a:latin typeface="Big Shoulders Display" pitchFamily="34" charset="0"/>
                <a:ea typeface="Big Shoulders Display" pitchFamily="34" charset="-122"/>
                <a:cs typeface="Big Shoulders Display" pitchFamily="34" charset="-120"/>
              </a:rPr>
              <a:t>300</a:t>
            </a:r>
            <a:endParaRPr lang="en-US" sz="6000" dirty="0"/>
          </a:p>
        </p:txBody>
      </p:sp>
      <p:sp>
        <p:nvSpPr>
          <p:cNvPr id="14" name="Text 11"/>
          <p:cNvSpPr/>
          <p:nvPr/>
        </p:nvSpPr>
        <p:spPr>
          <a:xfrm>
            <a:off x="3228360" y="3736380"/>
            <a:ext cx="1288494" cy="309827"/>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F1E8D6"/>
                </a:solidFill>
                <a:latin typeface="Instrument Sans" pitchFamily="34" charset="0"/>
                <a:ea typeface="Instrument Sans" pitchFamily="34" charset="-122"/>
                <a:cs typeface="Instrument Sans" pitchFamily="34" charset="-120"/>
              </a:rPr>
              <a:t>fotogramas</a:t>
            </a:r>
            <a:endParaRPr lang="en-US" sz="1600" dirty="0"/>
          </a:p>
        </p:txBody>
      </p:sp>
      <p:pic>
        <p:nvPicPr>
          <p:cNvPr id="15" name="Image 1" descr="connector">    </p:cNvPr>
          <p:cNvPicPr>
            <a:picLocks noChangeAspect="1"/>
          </p:cNvPicPr>
          <p:nvPr/>
        </p:nvPicPr>
        <p:blipFill>
          <a:blip r:embed="rId2"/>
          <a:srcRect l="0" r="0" t="0" b="0"/>
          <a:stretch/>
        </p:blipFill>
        <p:spPr>
          <a:xfrm>
            <a:off x="4836120" y="3421397"/>
            <a:ext cx="279400" cy="127000"/>
          </a:xfrm>
          <a:prstGeom prst="rect">
            <a:avLst/>
          </a:prstGeom>
        </p:spPr>
      </p:pic>
      <p:sp>
        <p:nvSpPr>
          <p:cNvPr id="16" name="Shape 12"/>
          <p:cNvSpPr/>
          <p:nvPr/>
        </p:nvSpPr>
        <p:spPr>
          <a:xfrm>
            <a:off x="5201245" y="2763775"/>
            <a:ext cx="1755577" cy="1442244"/>
          </a:xfrm>
          <a:prstGeom prst="roundRect">
            <a:avLst>
              <a:gd name="adj" fmla="val 4623"/>
            </a:avLst>
          </a:prstGeom>
          <a:noFill/>
          <a:ln w="19050">
            <a:solidFill>
              <a:srgbClr val="F1E8D6"/>
            </a:solidFill>
            <a:prstDash val="solid"/>
          </a:ln>
        </p:spPr>
      </p:sp>
      <p:sp>
        <p:nvSpPr>
          <p:cNvPr id="17" name="Text 13"/>
          <p:cNvSpPr/>
          <p:nvPr/>
        </p:nvSpPr>
        <p:spPr>
          <a:xfrm>
            <a:off x="5851108" y="2948980"/>
            <a:ext cx="455851" cy="787400"/>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F1E8D6"/>
                </a:solidFill>
                <a:latin typeface="Big Shoulders Display" pitchFamily="34" charset="0"/>
                <a:ea typeface="Big Shoulders Display" pitchFamily="34" charset="-122"/>
                <a:cs typeface="Big Shoulders Display" pitchFamily="34" charset="-120"/>
              </a:rPr>
              <a:t>6</a:t>
            </a:r>
            <a:endParaRPr lang="en-US" sz="6000" dirty="0"/>
          </a:p>
        </p:txBody>
      </p:sp>
      <p:sp>
        <p:nvSpPr>
          <p:cNvPr id="18" name="Text 14"/>
          <p:cNvSpPr/>
          <p:nvPr/>
        </p:nvSpPr>
        <p:spPr>
          <a:xfrm>
            <a:off x="5708954" y="3736380"/>
            <a:ext cx="740093" cy="309827"/>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F1E8D6"/>
                </a:solidFill>
                <a:latin typeface="Instrument Sans" pitchFamily="34" charset="0"/>
                <a:ea typeface="Instrument Sans" pitchFamily="34" charset="-122"/>
                <a:cs typeface="Instrument Sans" pitchFamily="34" charset="-120"/>
              </a:rPr>
              <a:t>planos</a:t>
            </a:r>
            <a:endParaRPr lang="en-US" sz="1600" dirty="0"/>
          </a:p>
        </p:txBody>
      </p:sp>
      <p:pic>
        <p:nvPicPr>
          <p:cNvPr id="19" name="Image 2" descr="connector">    </p:cNvPr>
          <p:cNvPicPr>
            <a:picLocks noChangeAspect="1"/>
          </p:cNvPicPr>
          <p:nvPr/>
        </p:nvPicPr>
        <p:blipFill>
          <a:blip r:embed="rId3"/>
          <a:srcRect l="0" r="0" t="0" b="0"/>
          <a:stretch/>
        </p:blipFill>
        <p:spPr>
          <a:xfrm>
            <a:off x="7042547" y="3421397"/>
            <a:ext cx="279400" cy="127000"/>
          </a:xfrm>
          <a:prstGeom prst="rect">
            <a:avLst/>
          </a:prstGeom>
        </p:spPr>
      </p:pic>
      <p:sp>
        <p:nvSpPr>
          <p:cNvPr id="20" name="Shape 15"/>
          <p:cNvSpPr/>
          <p:nvPr/>
        </p:nvSpPr>
        <p:spPr>
          <a:xfrm>
            <a:off x="7407672" y="2763775"/>
            <a:ext cx="1755577" cy="1442244"/>
          </a:xfrm>
          <a:prstGeom prst="roundRect">
            <a:avLst>
              <a:gd name="adj" fmla="val 4623"/>
            </a:avLst>
          </a:prstGeom>
          <a:noFill/>
          <a:ln w="19050">
            <a:solidFill>
              <a:srgbClr val="F1E8D6"/>
            </a:solidFill>
            <a:prstDash val="solid"/>
          </a:ln>
        </p:spPr>
      </p:sp>
      <p:sp>
        <p:nvSpPr>
          <p:cNvPr id="21" name="Text 16"/>
          <p:cNvSpPr/>
          <p:nvPr/>
        </p:nvSpPr>
        <p:spPr>
          <a:xfrm>
            <a:off x="7594144" y="2948980"/>
            <a:ext cx="1382633" cy="787400"/>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F1E8D6"/>
                </a:solidFill>
                <a:latin typeface="Big Shoulders Display" pitchFamily="34" charset="0"/>
                <a:ea typeface="Big Shoulders Display" pitchFamily="34" charset="-122"/>
                <a:cs typeface="Big Shoulders Display" pitchFamily="34" charset="-120"/>
              </a:rPr>
              <a:t>502</a:t>
            </a:r>
            <a:endParaRPr lang="en-US" sz="6000" dirty="0"/>
          </a:p>
        </p:txBody>
      </p:sp>
      <p:sp>
        <p:nvSpPr>
          <p:cNvPr id="22" name="Text 17"/>
          <p:cNvSpPr/>
          <p:nvPr/>
        </p:nvSpPr>
        <p:spPr>
          <a:xfrm>
            <a:off x="7601208" y="3736380"/>
            <a:ext cx="1368504" cy="309827"/>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F1E8D6"/>
                </a:solidFill>
                <a:latin typeface="Instrument Sans" pitchFamily="34" charset="0"/>
                <a:ea typeface="Instrument Sans" pitchFamily="34" charset="-122"/>
                <a:cs typeface="Instrument Sans" pitchFamily="34" charset="-120"/>
              </a:rPr>
              <a:t>detecciones</a:t>
            </a:r>
            <a:endParaRPr lang="en-US" sz="1600" dirty="0"/>
          </a:p>
        </p:txBody>
      </p:sp>
      <p:pic>
        <p:nvPicPr>
          <p:cNvPr id="23" name="Image 3" descr="connector">    </p:cNvPr>
          <p:cNvPicPr>
            <a:picLocks noChangeAspect="1"/>
          </p:cNvPicPr>
          <p:nvPr/>
        </p:nvPicPr>
        <p:blipFill>
          <a:blip r:embed="rId4"/>
          <a:srcRect l="0" r="0" t="0" b="0"/>
          <a:stretch/>
        </p:blipFill>
        <p:spPr>
          <a:xfrm>
            <a:off x="9248973" y="3421397"/>
            <a:ext cx="279400" cy="127000"/>
          </a:xfrm>
          <a:prstGeom prst="rect">
            <a:avLst/>
          </a:prstGeom>
        </p:spPr>
      </p:pic>
      <p:sp>
        <p:nvSpPr>
          <p:cNvPr id="24" name="Shape 18"/>
          <p:cNvSpPr/>
          <p:nvPr/>
        </p:nvSpPr>
        <p:spPr>
          <a:xfrm>
            <a:off x="9614098" y="2763775"/>
            <a:ext cx="1755577" cy="1442244"/>
          </a:xfrm>
          <a:prstGeom prst="roundRect">
            <a:avLst>
              <a:gd name="adj" fmla="val 4623"/>
            </a:avLst>
          </a:prstGeom>
          <a:noFill/>
          <a:ln w="19050">
            <a:solidFill>
              <a:srgbClr val="F1E8D6"/>
            </a:solidFill>
            <a:prstDash val="solid"/>
          </a:ln>
        </p:spPr>
      </p:sp>
      <p:sp>
        <p:nvSpPr>
          <p:cNvPr id="25" name="Text 19"/>
          <p:cNvSpPr/>
          <p:nvPr/>
        </p:nvSpPr>
        <p:spPr>
          <a:xfrm>
            <a:off x="10030996" y="2948980"/>
            <a:ext cx="921782" cy="787400"/>
          </a:xfrm>
          <a:prstGeom prst="rect">
            <a:avLst/>
          </a:prstGeom>
          <a:noFill/>
          <a:ln/>
        </p:spPr>
        <p:txBody>
          <a:bodyPr wrap="square" lIns="0" tIns="0" rIns="0" bIns="0" rtlCol="0" anchor="t">
            <a:normAutofit/>
          </a:bodyPr>
          <a:lstStyle/>
          <a:p>
            <a:pPr algn="ctr" indent="0" marL="0">
              <a:lnSpc>
                <a:spcPts val="6000"/>
              </a:lnSpc>
              <a:buNone/>
            </a:pPr>
            <a:r>
              <a:rPr lang="en-US" sz="6000" b="1" dirty="0">
                <a:solidFill>
                  <a:srgbClr val="B48CFF"/>
                </a:solidFill>
                <a:latin typeface="Big Shoulders Display" pitchFamily="34" charset="0"/>
                <a:ea typeface="Big Shoulders Display" pitchFamily="34" charset="-122"/>
                <a:cs typeface="Big Shoulders Display" pitchFamily="34" charset="-120"/>
              </a:rPr>
              <a:t>33</a:t>
            </a:r>
            <a:endParaRPr lang="en-US" sz="6000" dirty="0"/>
          </a:p>
        </p:txBody>
      </p:sp>
      <p:sp>
        <p:nvSpPr>
          <p:cNvPr id="26" name="Text 20"/>
          <p:cNvSpPr/>
          <p:nvPr/>
        </p:nvSpPr>
        <p:spPr>
          <a:xfrm>
            <a:off x="9832400" y="3736380"/>
            <a:ext cx="1318974" cy="309827"/>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F1E8D6"/>
                </a:solidFill>
                <a:latin typeface="Instrument Sans" pitchFamily="34" charset="0"/>
                <a:ea typeface="Instrument Sans" pitchFamily="34" charset="-122"/>
                <a:cs typeface="Instrument Sans" pitchFamily="34" charset="-120"/>
              </a:rPr>
              <a:t>trayectorias</a:t>
            </a:r>
            <a:endParaRPr lang="en-US" sz="1600" dirty="0"/>
          </a:p>
        </p:txBody>
      </p:sp>
      <p:sp>
        <p:nvSpPr>
          <p:cNvPr id="27" name="Text 21"/>
          <p:cNvSpPr/>
          <p:nvPr/>
        </p:nvSpPr>
        <p:spPr>
          <a:xfrm>
            <a:off x="812800" y="4621944"/>
            <a:ext cx="10883392"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1E8D6"/>
                </a:solidFill>
                <a:latin typeface="Instrument Sans" pitchFamily="34" charset="0"/>
                <a:ea typeface="Instrument Sans" pitchFamily="34" charset="-122"/>
                <a:cs typeface="Instrument Sans" pitchFamily="34" charset="-120"/>
              </a:rPr>
              <a:t>Prueba en un portátil, a 1 fotograma por segundo y sin analizar caras: demuestra que todo el sistema funciona. El análisis de mujeres se hace después, en GPU.</a:t>
            </a:r>
            <a:endParaRPr lang="en-US" sz="1700" dirty="0"/>
          </a:p>
        </p:txBody>
      </p:sp>
      <p:sp>
        <p:nvSpPr>
          <p:cNvPr id="28" name="Text 22"/>
          <p:cNvSpPr/>
          <p:nvPr/>
        </p:nvSpPr>
        <p:spPr>
          <a:xfrm>
            <a:off x="812800" y="6118889"/>
            <a:ext cx="78486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ADA’S HEIRS</a:t>
            </a:r>
            <a:endParaRPr lang="en-US" sz="1300" dirty="0"/>
          </a:p>
        </p:txBody>
      </p:sp>
      <p:sp>
        <p:nvSpPr>
          <p:cNvPr id="29" name="Text 23"/>
          <p:cNvSpPr/>
          <p:nvPr/>
        </p:nvSpPr>
        <p:spPr>
          <a:xfrm>
            <a:off x="10058400" y="61188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09</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812800" y="6118889"/>
            <a:ext cx="78486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ADA’S HEIRS</a:t>
            </a:r>
            <a:endParaRPr lang="en-US" sz="1300" dirty="0"/>
          </a:p>
        </p:txBody>
      </p:sp>
      <p:sp>
        <p:nvSpPr>
          <p:cNvPr id="7" name="Text 5"/>
          <p:cNvSpPr/>
          <p:nvPr/>
        </p:nvSpPr>
        <p:spPr>
          <a:xfrm>
            <a:off x="10058400" y="61188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10</a:t>
            </a:r>
            <a:endParaRPr lang="en-US" sz="1300" dirty="0"/>
          </a:p>
        </p:txBody>
      </p:sp>
      <p:sp>
        <p:nvSpPr>
          <p:cNvPr id="8" name="Text 6"/>
          <p:cNvSpPr/>
          <p:nvPr/>
        </p:nvSpPr>
        <p:spPr>
          <a:xfrm>
            <a:off x="812800" y="108585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50" kern="0" dirty="0">
                <a:solidFill>
                  <a:srgbClr val="B48CFF"/>
                </a:solidFill>
                <a:latin typeface="Courier Prime" pitchFamily="49" charset="0"/>
                <a:ea typeface="Courier Prime" pitchFamily="49" charset="-122"/>
                <a:cs typeface="Courier Prime" pitchFamily="49" charset="-120"/>
              </a:rPr>
              <a:t>RESULTADOS · EVALUACIÓN MANUAL</a:t>
            </a:r>
            <a:endParaRPr lang="en-US" sz="1500" dirty="0"/>
          </a:p>
        </p:txBody>
      </p:sp>
      <p:sp>
        <p:nvSpPr>
          <p:cNvPr id="9" name="Text 7"/>
          <p:cNvSpPr/>
          <p:nvPr>
            <p:ph type="title"/>
          </p:nvPr>
        </p:nvSpPr>
        <p:spPr>
          <a:xfrm>
            <a:off x="812800" y="1479550"/>
            <a:ext cx="10883392" cy="1280054"/>
          </a:xfrm>
          <a:prstGeom prst="rect">
            <a:avLst/>
          </a:prstGeom>
          <a:noFill/>
          <a:ln/>
        </p:spPr>
        <p:txBody>
          <a:bodyPr wrap="square" lIns="0" tIns="0" rIns="0" bIns="0" rtlCol="0" anchor="t">
            <a:normAutofit/>
          </a:bodyPr>
          <a:lstStyle/>
          <a:p>
            <a:pPr algn="l" indent="0" marL="0">
              <a:lnSpc>
                <a:spcPts val="4940"/>
              </a:lnSpc>
              <a:buNone/>
            </a:pPr>
            <a:r>
              <a:rPr lang="en-US" sz="5200" b="1" i="0" dirty="0">
                <a:solidFill>
                  <a:srgbClr val="F1E8D6"/>
                </a:solidFill>
                <a:latin typeface="Big Shoulders Display" pitchFamily="34" charset="0"/>
                <a:ea typeface="Big Shoulders Display" pitchFamily="34" charset="-122"/>
                <a:cs typeface="Big Shoulders Display" pitchFamily="34" charset="-120"/>
              </a:rPr>
              <a:t>¿ACIERTA EL SISTEMA? LO COMPROBAMOS A MANO</a:t>
            </a:r>
            <a:endParaRPr lang="en-US" sz="5200" dirty="0"/>
          </a:p>
        </p:txBody>
      </p:sp>
      <p:sp>
        <p:nvSpPr>
          <p:cNvPr id="10" name="Text 8"/>
          <p:cNvSpPr/>
          <p:nvPr/>
        </p:nvSpPr>
        <p:spPr>
          <a:xfrm>
            <a:off x="812800" y="3261984"/>
            <a:ext cx="3401060" cy="1168400"/>
          </a:xfrm>
          <a:prstGeom prst="rect">
            <a:avLst/>
          </a:prstGeom>
          <a:noFill/>
          <a:ln/>
        </p:spPr>
        <p:txBody>
          <a:bodyPr wrap="square" lIns="0" tIns="0" rIns="0" bIns="0" rtlCol="0" anchor="t">
            <a:normAutofit/>
          </a:bodyPr>
          <a:lstStyle/>
          <a:p>
            <a:pPr algn="l" indent="0" marL="0">
              <a:lnSpc>
                <a:spcPts val="9000"/>
              </a:lnSpc>
              <a:buNone/>
            </a:pPr>
            <a:r>
              <a:rPr lang="en-US" sz="9000" b="1" dirty="0">
                <a:solidFill>
                  <a:srgbClr val="B48CFF"/>
                </a:solidFill>
                <a:latin typeface="Big Shoulders Display" pitchFamily="34" charset="0"/>
                <a:ea typeface="Big Shoulders Display" pitchFamily="34" charset="-122"/>
                <a:cs typeface="Big Shoulders Display" pitchFamily="34" charset="-120"/>
              </a:rPr>
              <a:t>2 / 17</a:t>
            </a:r>
            <a:endParaRPr lang="en-US" sz="9000" dirty="0"/>
          </a:p>
        </p:txBody>
      </p:sp>
      <p:sp>
        <p:nvSpPr>
          <p:cNvPr id="11" name="Text 9"/>
          <p:cNvSpPr/>
          <p:nvPr/>
        </p:nvSpPr>
        <p:spPr>
          <a:xfrm>
            <a:off x="812800" y="4455784"/>
            <a:ext cx="3401060" cy="86737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F1E8D6"/>
                </a:solidFill>
                <a:latin typeface="Instrument Sans" pitchFamily="34" charset="0"/>
                <a:ea typeface="Instrument Sans" pitchFamily="34" charset="-122"/>
                <a:cs typeface="Instrument Sans" pitchFamily="34" charset="-120"/>
              </a:rPr>
              <a:t>Películas elegidas y anotadas a mano por el equipo, en fragmentos</a:t>
            </a:r>
            <a:endParaRPr lang="en-US" sz="1700" dirty="0"/>
          </a:p>
        </p:txBody>
      </p:sp>
      <p:sp>
        <p:nvSpPr>
          <p:cNvPr id="12" name="Shape 10"/>
          <p:cNvSpPr/>
          <p:nvPr/>
        </p:nvSpPr>
        <p:spPr>
          <a:xfrm>
            <a:off x="4632325" y="3102837"/>
            <a:ext cx="3232150" cy="2354130"/>
          </a:xfrm>
          <a:prstGeom prst="roundRect">
            <a:avLst>
              <a:gd name="adj" fmla="val 2832"/>
            </a:avLst>
          </a:prstGeom>
          <a:noFill/>
          <a:ln w="19050">
            <a:solidFill>
              <a:srgbClr val="F1E8D6"/>
            </a:solidFill>
            <a:prstDash val="solid"/>
          </a:ln>
        </p:spPr>
      </p:sp>
      <p:sp>
        <p:nvSpPr>
          <p:cNvPr id="13" name="Text 11"/>
          <p:cNvSpPr/>
          <p:nvPr/>
        </p:nvSpPr>
        <p:spPr>
          <a:xfrm>
            <a:off x="4842933" y="3313447"/>
            <a:ext cx="289526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SONORA · BLANCO Y NEGRO</a:t>
            </a:r>
            <a:endParaRPr lang="en-US" sz="1300" dirty="0"/>
          </a:p>
        </p:txBody>
      </p:sp>
      <p:sp>
        <p:nvSpPr>
          <p:cNvPr id="14" name="Text 12"/>
          <p:cNvSpPr/>
          <p:nvPr/>
        </p:nvSpPr>
        <p:spPr>
          <a:xfrm>
            <a:off x="4842933" y="3633459"/>
            <a:ext cx="289526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1E8D6"/>
                </a:solidFill>
                <a:latin typeface="Big Shoulders Display" pitchFamily="34" charset="0"/>
                <a:ea typeface="Big Shoulders Display" pitchFamily="34" charset="-122"/>
                <a:cs typeface="Big Shoulders Display" pitchFamily="34" charset="-120"/>
              </a:rPr>
              <a:t>DETOUR (1945)</a:t>
            </a:r>
            <a:endParaRPr lang="en-US" sz="3200" dirty="0"/>
          </a:p>
        </p:txBody>
      </p:sp>
      <p:sp>
        <p:nvSpPr>
          <p:cNvPr id="15" name="Text 13"/>
          <p:cNvSpPr/>
          <p:nvPr/>
        </p:nvSpPr>
        <p:spPr>
          <a:xfrm>
            <a:off x="4842933" y="4128759"/>
            <a:ext cx="2895261"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E8D6"/>
                </a:solidFill>
                <a:latin typeface="Instrument Sans" pitchFamily="34" charset="0"/>
                <a:ea typeface="Instrument Sans" pitchFamily="34" charset="-122"/>
                <a:cs typeface="Instrument Sans" pitchFamily="34" charset="-120"/>
              </a:rPr>
              <a:t>Hombres: </a:t>
            </a:r>
            <a:r>
              <a:rPr lang="en-US" sz="1500" b="1" dirty="0">
                <a:solidFill>
                  <a:srgbClr val="F1E8D6"/>
                </a:solidFill>
                <a:latin typeface="Instrument Sans" pitchFamily="34" charset="0"/>
                <a:ea typeface="Instrument Sans" pitchFamily="34" charset="-122"/>
                <a:cs typeface="Instrument Sans" pitchFamily="34" charset="-120"/>
              </a:rPr>
              <a:t>93 % de precisión</a:t>
            </a:r>
            <a:r>
              <a:rPr lang="en-US" sz="1500" dirty="0">
                <a:solidFill>
                  <a:srgbClr val="F1E8D6"/>
                </a:solidFill>
                <a:latin typeface="Instrument Sans" pitchFamily="34" charset="0"/>
                <a:ea typeface="Instrument Sans" pitchFamily="34" charset="-122"/>
                <a:cs typeface="Instrument Sans" pitchFamily="34" charset="-120"/>
              </a:rPr>
              <a:t>.</a:t>
            </a:r>
            <a:endParaRPr lang="en-US" sz="1500" dirty="0"/>
          </a:p>
        </p:txBody>
      </p:sp>
      <p:sp>
        <p:nvSpPr>
          <p:cNvPr id="16" name="Text 14"/>
          <p:cNvSpPr/>
          <p:nvPr/>
        </p:nvSpPr>
        <p:spPr>
          <a:xfrm>
            <a:off x="4842933" y="4474834"/>
            <a:ext cx="2895261"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E8D6"/>
                </a:solidFill>
                <a:latin typeface="Instrument Sans" pitchFamily="34" charset="0"/>
                <a:ea typeface="Instrument Sans" pitchFamily="34" charset="-122"/>
                <a:cs typeface="Instrument Sans" pitchFamily="34" charset="-120"/>
              </a:rPr>
              <a:t>Mujeres: </a:t>
            </a:r>
            <a:r>
              <a:rPr lang="en-US" sz="1500" b="1" dirty="0">
                <a:solidFill>
                  <a:srgbClr val="F1E8D6"/>
                </a:solidFill>
                <a:latin typeface="Instrument Sans" pitchFamily="34" charset="0"/>
                <a:ea typeface="Instrument Sans" pitchFamily="34" charset="-122"/>
                <a:cs typeface="Instrument Sans" pitchFamily="34" charset="-120"/>
              </a:rPr>
              <a:t>3 de 4 sin decidir</a:t>
            </a:r>
            <a:r>
              <a:rPr lang="en-US" sz="1500" dirty="0">
                <a:solidFill>
                  <a:srgbClr val="F1E8D6"/>
                </a:solidFill>
                <a:latin typeface="Instrument Sans" pitchFamily="34" charset="0"/>
                <a:ea typeface="Instrument Sans" pitchFamily="34" charset="-122"/>
                <a:cs typeface="Instrument Sans" pitchFamily="34" charset="-120"/>
              </a:rPr>
              <a:t>. La mayoría de votos era correcta, pero con poca confianza.</a:t>
            </a:r>
            <a:endParaRPr lang="en-US" sz="1500" dirty="0"/>
          </a:p>
        </p:txBody>
      </p:sp>
      <p:sp>
        <p:nvSpPr>
          <p:cNvPr id="17" name="Shape 15"/>
          <p:cNvSpPr/>
          <p:nvPr/>
        </p:nvSpPr>
        <p:spPr>
          <a:xfrm>
            <a:off x="8137525" y="3102837"/>
            <a:ext cx="3232150" cy="2354130"/>
          </a:xfrm>
          <a:prstGeom prst="roundRect">
            <a:avLst>
              <a:gd name="adj" fmla="val 2832"/>
            </a:avLst>
          </a:prstGeom>
          <a:noFill/>
          <a:ln w="19050">
            <a:solidFill>
              <a:srgbClr val="F1E8D6"/>
            </a:solidFill>
            <a:prstDash val="solid"/>
          </a:ln>
        </p:spPr>
      </p:sp>
      <p:sp>
        <p:nvSpPr>
          <p:cNvPr id="18" name="Text 16"/>
          <p:cNvSpPr/>
          <p:nvPr/>
        </p:nvSpPr>
        <p:spPr>
          <a:xfrm>
            <a:off x="8348134" y="3313447"/>
            <a:ext cx="289526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MUDA · BAJA CALIDAD</a:t>
            </a:r>
            <a:endParaRPr lang="en-US" sz="1300" dirty="0"/>
          </a:p>
        </p:txBody>
      </p:sp>
      <p:sp>
        <p:nvSpPr>
          <p:cNvPr id="19" name="Text 17"/>
          <p:cNvSpPr/>
          <p:nvPr/>
        </p:nvSpPr>
        <p:spPr>
          <a:xfrm>
            <a:off x="8348134" y="3633459"/>
            <a:ext cx="3012016"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1E8D6"/>
                </a:solidFill>
                <a:latin typeface="Big Shoulders Display" pitchFamily="34" charset="0"/>
                <a:ea typeface="Big Shoulders Display" pitchFamily="34" charset="-122"/>
                <a:cs typeface="Big Shoulders Display" pitchFamily="34" charset="-120"/>
              </a:rPr>
              <a:t>THE GENERAL (1927)</a:t>
            </a:r>
            <a:endParaRPr lang="en-US" sz="3200" dirty="0"/>
          </a:p>
        </p:txBody>
      </p:sp>
      <p:sp>
        <p:nvSpPr>
          <p:cNvPr id="20" name="Text 18"/>
          <p:cNvSpPr/>
          <p:nvPr/>
        </p:nvSpPr>
        <p:spPr>
          <a:xfrm>
            <a:off x="8348134" y="4128759"/>
            <a:ext cx="2895261"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E8D6"/>
                </a:solidFill>
                <a:latin typeface="Instrument Sans" pitchFamily="34" charset="0"/>
                <a:ea typeface="Instrument Sans" pitchFamily="34" charset="-122"/>
                <a:cs typeface="Instrument Sans" pitchFamily="34" charset="-120"/>
              </a:rPr>
              <a:t>El caso más difícil: aquí el modelo </a:t>
            </a:r>
            <a:r>
              <a:rPr lang="en-US" sz="1500" b="1" dirty="0">
                <a:solidFill>
                  <a:srgbClr val="F1E8D6"/>
                </a:solidFill>
                <a:latin typeface="Instrument Sans" pitchFamily="34" charset="0"/>
                <a:ea typeface="Instrument Sans" pitchFamily="34" charset="-122"/>
                <a:cs typeface="Instrument Sans" pitchFamily="34" charset="-120"/>
              </a:rPr>
              <a:t>se equivoca mucho</a:t>
            </a:r>
            <a:r>
              <a:rPr lang="en-US" sz="1500" dirty="0">
                <a:solidFill>
                  <a:srgbClr val="F1E8D6"/>
                </a:solidFill>
                <a:latin typeface="Instrument Sans" pitchFamily="34" charset="0"/>
                <a:ea typeface="Instrument Sans" pitchFamily="34" charset="-122"/>
                <a:cs typeface="Instrument Sans" pitchFamily="34" charset="-120"/>
              </a:rPr>
              <a:t>.</a:t>
            </a:r>
            <a:endParaRPr lang="en-US" sz="1500" dirty="0"/>
          </a:p>
        </p:txBody>
      </p:sp>
      <p:sp>
        <p:nvSpPr>
          <p:cNvPr id="21" name="Text 19"/>
          <p:cNvSpPr/>
          <p:nvPr/>
        </p:nvSpPr>
        <p:spPr>
          <a:xfrm>
            <a:off x="8348134" y="4732009"/>
            <a:ext cx="2895261"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1E8D6"/>
                </a:solidFill>
                <a:latin typeface="Instrument Sans" pitchFamily="34" charset="0"/>
                <a:ea typeface="Instrument Sans" pitchFamily="34" charset="-122"/>
                <a:cs typeface="Instrument Sans" pitchFamily="34" charset="-120"/>
              </a:rPr>
              <a:t>Lo vemos en la siguiente diapositiva.</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812800" y="6118889"/>
            <a:ext cx="91567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ADEMÁS: 26 APARICIONES NO DETECTADAS, 8 DE ELLAS MUJERES</a:t>
            </a:r>
            <a:endParaRPr lang="en-US" sz="1300" dirty="0"/>
          </a:p>
        </p:txBody>
      </p:sp>
      <p:sp>
        <p:nvSpPr>
          <p:cNvPr id="7" name="Text 5"/>
          <p:cNvSpPr/>
          <p:nvPr/>
        </p:nvSpPr>
        <p:spPr>
          <a:xfrm>
            <a:off x="10058400" y="61188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11</a:t>
            </a:r>
            <a:endParaRPr lang="en-US" sz="1300" dirty="0"/>
          </a:p>
        </p:txBody>
      </p:sp>
      <p:sp>
        <p:nvSpPr>
          <p:cNvPr id="8" name="Text 6"/>
          <p:cNvSpPr/>
          <p:nvPr/>
        </p:nvSpPr>
        <p:spPr>
          <a:xfrm>
            <a:off x="1517650" y="4692650"/>
            <a:ext cx="9156700" cy="665427"/>
          </a:xfrm>
          <a:prstGeom prst="rect">
            <a:avLst/>
          </a:prstGeom>
          <a:noFill/>
          <a:ln/>
        </p:spPr>
        <p:txBody>
          <a:bodyPr wrap="square" lIns="0" tIns="0" rIns="0" bIns="0" rtlCol="0" anchor="t">
            <a:normAutofit/>
          </a:bodyPr>
          <a:lstStyle/>
          <a:p>
            <a:pPr algn="ctr" indent="0" marL="0">
              <a:lnSpc>
                <a:spcPts val="2520"/>
              </a:lnSpc>
              <a:buNone/>
            </a:pPr>
            <a:r>
              <a:rPr lang="en-US" sz="1800" dirty="0">
                <a:solidFill>
                  <a:srgbClr val="F1E8D6"/>
                </a:solidFill>
                <a:latin typeface="Instrument Sans" pitchFamily="34" charset="0"/>
                <a:ea typeface="Instrument Sans" pitchFamily="34" charset="-122"/>
                <a:cs typeface="Instrument Sans" pitchFamily="34" charset="-120"/>
              </a:rPr>
              <a:t>Con cine mudo de baja calidad el modelo falla. Por eso el sistema marca películas como dudosas, deja casos sin decidir y siempre pasa por revisión humana.</a:t>
            </a:r>
            <a:endParaRPr lang="en-US" sz="1800" dirty="0"/>
          </a:p>
        </p:txBody>
      </p:sp>
      <p:sp>
        <p:nvSpPr>
          <p:cNvPr id="9" name="Text 7"/>
          <p:cNvSpPr/>
          <p:nvPr/>
        </p:nvSpPr>
        <p:spPr>
          <a:xfrm>
            <a:off x="3615690" y="1140023"/>
            <a:ext cx="4960620" cy="292100"/>
          </a:xfrm>
          <a:prstGeom prst="rect">
            <a:avLst/>
          </a:prstGeom>
          <a:noFill/>
          <a:ln/>
        </p:spPr>
        <p:txBody>
          <a:bodyPr wrap="square" lIns="0" tIns="0" rIns="0" bIns="0" rtlCol="0" anchor="t">
            <a:normAutofit/>
          </a:bodyPr>
          <a:lstStyle/>
          <a:p>
            <a:pPr algn="ctr" indent="0" marL="0">
              <a:lnSpc>
                <a:spcPts val="2100"/>
              </a:lnSpc>
              <a:buNone/>
            </a:pPr>
            <a:r>
              <a:rPr lang="en-US" sz="1500" spc="150" kern="0" dirty="0">
                <a:solidFill>
                  <a:srgbClr val="B48CFF"/>
                </a:solidFill>
                <a:latin typeface="Courier Prime" pitchFamily="49" charset="0"/>
                <a:ea typeface="Courier Prime" pitchFamily="49" charset="-122"/>
                <a:cs typeface="Courier Prime" pitchFamily="49" charset="-120"/>
              </a:rPr>
              <a:t>RESULTADOS · THE GENERAL (1927)</a:t>
            </a:r>
            <a:endParaRPr lang="en-US" sz="1500" dirty="0"/>
          </a:p>
        </p:txBody>
      </p:sp>
      <p:sp>
        <p:nvSpPr>
          <p:cNvPr id="10" name="Text 8"/>
          <p:cNvSpPr/>
          <p:nvPr>
            <p:ph type="title"/>
          </p:nvPr>
        </p:nvSpPr>
        <p:spPr>
          <a:xfrm>
            <a:off x="1360170" y="1620838"/>
            <a:ext cx="9471660" cy="652727"/>
          </a:xfrm>
          <a:prstGeom prst="rect">
            <a:avLst/>
          </a:prstGeom>
          <a:noFill/>
          <a:ln/>
        </p:spPr>
        <p:txBody>
          <a:bodyPr wrap="square" lIns="0" tIns="0" rIns="0" bIns="0" rtlCol="0" anchor="t">
            <a:normAutofit/>
          </a:bodyPr>
          <a:lstStyle/>
          <a:p>
            <a:pPr algn="ctr" indent="0" marL="0">
              <a:lnSpc>
                <a:spcPts val="4940"/>
              </a:lnSpc>
              <a:buNone/>
            </a:pPr>
            <a:r>
              <a:rPr lang="en-US" sz="5200" b="1" i="0" dirty="0">
                <a:solidFill>
                  <a:srgbClr val="F1E8D6"/>
                </a:solidFill>
                <a:latin typeface="Big Shoulders Display" pitchFamily="34" charset="0"/>
                <a:ea typeface="Big Shoulders Display" pitchFamily="34" charset="-122"/>
                <a:cs typeface="Big Shoulders Display" pitchFamily="34" charset="-120"/>
              </a:rPr>
              <a:t>UN FALLO QUE NOS ENSEÑÓ MUCHO</a:t>
            </a:r>
            <a:endParaRPr lang="en-US" sz="5200" dirty="0"/>
          </a:p>
        </p:txBody>
      </p:sp>
      <p:sp>
        <p:nvSpPr>
          <p:cNvPr id="11" name="Text 9"/>
          <p:cNvSpPr/>
          <p:nvPr/>
        </p:nvSpPr>
        <p:spPr>
          <a:xfrm>
            <a:off x="1145540" y="2730500"/>
            <a:ext cx="3208020" cy="1422400"/>
          </a:xfrm>
          <a:prstGeom prst="rect">
            <a:avLst/>
          </a:prstGeom>
          <a:noFill/>
          <a:ln/>
        </p:spPr>
        <p:txBody>
          <a:bodyPr wrap="square" lIns="0" tIns="0" rIns="0" bIns="0" rtlCol="0" anchor="t">
            <a:normAutofit/>
          </a:bodyPr>
          <a:lstStyle/>
          <a:p>
            <a:pPr algn="ctr" indent="0" marL="0">
              <a:lnSpc>
                <a:spcPts val="11000"/>
              </a:lnSpc>
              <a:buNone/>
            </a:pPr>
            <a:r>
              <a:rPr lang="en-US" sz="11000" b="1" dirty="0">
                <a:solidFill>
                  <a:srgbClr val="B48CFF"/>
                </a:solidFill>
                <a:latin typeface="Big Shoulders Display" pitchFamily="34" charset="0"/>
                <a:ea typeface="Big Shoulders Display" pitchFamily="34" charset="-122"/>
                <a:cs typeface="Big Shoulders Display" pitchFamily="34" charset="-120"/>
              </a:rPr>
              <a:t>84 %</a:t>
            </a:r>
            <a:endParaRPr lang="en-US" sz="11000" dirty="0"/>
          </a:p>
        </p:txBody>
      </p:sp>
      <p:sp>
        <p:nvSpPr>
          <p:cNvPr id="12" name="Text 10"/>
          <p:cNvSpPr/>
          <p:nvPr/>
        </p:nvSpPr>
        <p:spPr>
          <a:xfrm>
            <a:off x="958850" y="4127500"/>
            <a:ext cx="3581400" cy="322527"/>
          </a:xfrm>
          <a:prstGeom prst="rect">
            <a:avLst/>
          </a:prstGeom>
          <a:noFill/>
          <a:ln/>
        </p:spPr>
        <p:txBody>
          <a:bodyPr wrap="square" lIns="0" tIns="0" rIns="0" bIns="0" rtlCol="0" anchor="t">
            <a:normAutofit/>
          </a:bodyPr>
          <a:lstStyle/>
          <a:p>
            <a:pPr algn="ctr" indent="0" marL="0">
              <a:lnSpc>
                <a:spcPts val="2340"/>
              </a:lnSpc>
              <a:buNone/>
            </a:pPr>
            <a:r>
              <a:rPr lang="en-US" sz="1800" dirty="0">
                <a:solidFill>
                  <a:srgbClr val="F1E8D6"/>
                </a:solidFill>
                <a:latin typeface="Instrument Sans" pitchFamily="34" charset="0"/>
                <a:ea typeface="Instrument Sans" pitchFamily="34" charset="-122"/>
                <a:cs typeface="Instrument Sans" pitchFamily="34" charset="-120"/>
              </a:rPr>
              <a:t>de mujeres, según el modelo</a:t>
            </a:r>
            <a:endParaRPr lang="en-US" sz="1800" dirty="0"/>
          </a:p>
        </p:txBody>
      </p:sp>
      <p:sp>
        <p:nvSpPr>
          <p:cNvPr id="13" name="Text 11"/>
          <p:cNvSpPr/>
          <p:nvPr/>
        </p:nvSpPr>
        <p:spPr>
          <a:xfrm>
            <a:off x="5911850" y="3215649"/>
            <a:ext cx="441960" cy="452107"/>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B48CFF"/>
                </a:solidFill>
                <a:latin typeface="Courier Prime" pitchFamily="49" charset="0"/>
                <a:ea typeface="Courier Prime" pitchFamily="49" charset="-122"/>
                <a:cs typeface="Courier Prime" pitchFamily="49" charset="-120"/>
              </a:rPr>
              <a:t>VS</a:t>
            </a:r>
            <a:endParaRPr lang="en-US" sz="2400" dirty="0"/>
          </a:p>
        </p:txBody>
      </p:sp>
      <p:sp>
        <p:nvSpPr>
          <p:cNvPr id="14" name="Text 12"/>
          <p:cNvSpPr/>
          <p:nvPr/>
        </p:nvSpPr>
        <p:spPr>
          <a:xfrm>
            <a:off x="6971665" y="2730500"/>
            <a:ext cx="4808220" cy="1422400"/>
          </a:xfrm>
          <a:prstGeom prst="rect">
            <a:avLst/>
          </a:prstGeom>
          <a:noFill/>
          <a:ln/>
        </p:spPr>
        <p:txBody>
          <a:bodyPr wrap="square" lIns="0" tIns="0" rIns="0" bIns="0" rtlCol="0" anchor="t">
            <a:normAutofit/>
          </a:bodyPr>
          <a:lstStyle/>
          <a:p>
            <a:pPr algn="ctr" indent="0" marL="0">
              <a:lnSpc>
                <a:spcPts val="11000"/>
              </a:lnSpc>
              <a:buNone/>
            </a:pPr>
            <a:r>
              <a:rPr lang="en-US" sz="11000" b="1" dirty="0">
                <a:solidFill>
                  <a:srgbClr val="F1E8D6"/>
                </a:solidFill>
                <a:latin typeface="Big Shoulders Display" pitchFamily="34" charset="0"/>
                <a:ea typeface="Big Shoulders Display" pitchFamily="34" charset="-122"/>
                <a:cs typeface="Big Shoulders Display" pitchFamily="34" charset="-120"/>
              </a:rPr>
              <a:t>4 de 24</a:t>
            </a:r>
            <a:endParaRPr lang="en-US" sz="11000" dirty="0"/>
          </a:p>
        </p:txBody>
      </p:sp>
      <p:sp>
        <p:nvSpPr>
          <p:cNvPr id="15" name="Text 13"/>
          <p:cNvSpPr/>
          <p:nvPr/>
        </p:nvSpPr>
        <p:spPr>
          <a:xfrm>
            <a:off x="6967220" y="4127438"/>
            <a:ext cx="4861560" cy="322527"/>
          </a:xfrm>
          <a:prstGeom prst="rect">
            <a:avLst/>
          </a:prstGeom>
          <a:noFill/>
          <a:ln/>
        </p:spPr>
        <p:txBody>
          <a:bodyPr wrap="square" lIns="0" tIns="0" rIns="0" bIns="0" rtlCol="0" anchor="t">
            <a:normAutofit/>
          </a:bodyPr>
          <a:lstStyle/>
          <a:p>
            <a:pPr algn="ctr" indent="0" marL="0">
              <a:lnSpc>
                <a:spcPts val="2340"/>
              </a:lnSpc>
              <a:buNone/>
            </a:pPr>
            <a:r>
              <a:rPr lang="en-US" sz="1800" dirty="0">
                <a:solidFill>
                  <a:srgbClr val="F1E8D6"/>
                </a:solidFill>
                <a:latin typeface="Instrument Sans" pitchFamily="34" charset="0"/>
                <a:ea typeface="Instrument Sans" pitchFamily="34" charset="-122"/>
                <a:cs typeface="Instrument Sans" pitchFamily="34" charset="-120"/>
              </a:rPr>
              <a:t>eran mujeres, según nuestra anotación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pic>
        <p:nvPicPr>
          <p:cNvPr id="6" name="Image 0" descr="Demo de Ada’s Heirs en Streamlit: resumen por género percibido de Detour con tabla y gráficos de tiempo en pantalla e índice de protagonismo">    </p:cNvPr>
          <p:cNvPicPr>
            <a:picLocks noChangeAspect="1"/>
          </p:cNvPicPr>
          <p:nvPr/>
        </p:nvPicPr>
        <p:blipFill>
          <a:blip r:embed="rId1"/>
          <a:srcRect l="-333" r="-333" t="0" b="0"/>
          <a:stretch/>
        </p:blipFill>
        <p:spPr>
          <a:xfrm>
            <a:off x="838200" y="1437022"/>
            <a:ext cx="5664200" cy="3295650"/>
          </a:xfrm>
          <a:prstGeom prst="roundRect">
            <a:avLst>
              <a:gd name="adj" fmla="val 771"/>
            </a:avLst>
          </a:prstGeom>
        </p:spPr>
      </p:pic>
      <p:sp>
        <p:nvSpPr>
          <p:cNvPr id="7" name="Shape 4"/>
          <p:cNvSpPr/>
          <p:nvPr/>
        </p:nvSpPr>
        <p:spPr>
          <a:xfrm>
            <a:off x="825500" y="1424322"/>
            <a:ext cx="5689600" cy="3321050"/>
          </a:xfrm>
          <a:prstGeom prst="roundRect">
            <a:avLst>
              <a:gd name="adj" fmla="val 1147"/>
            </a:avLst>
          </a:prstGeom>
          <a:noFill/>
          <a:ln w="25400">
            <a:solidFill>
              <a:srgbClr val="F1E8D6"/>
            </a:solidFill>
            <a:prstDash val="solid"/>
          </a:ln>
        </p:spPr>
      </p:sp>
      <p:sp>
        <p:nvSpPr>
          <p:cNvPr id="8" name="Text 5"/>
          <p:cNvSpPr/>
          <p:nvPr/>
        </p:nvSpPr>
        <p:spPr>
          <a:xfrm>
            <a:off x="812800" y="4910472"/>
            <a:ext cx="588645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1E8D6"/>
                </a:solidFill>
                <a:latin typeface="Courier Prime" pitchFamily="49" charset="0"/>
                <a:ea typeface="Courier Prime" pitchFamily="49" charset="-122"/>
                <a:cs typeface="Courier Prime" pitchFamily="49" charset="-120"/>
              </a:rPr>
              <a:t>DEMO EN STREAMLIT · DETOUR (1945)</a:t>
            </a:r>
            <a:endParaRPr lang="en-US" sz="1300" dirty="0"/>
          </a:p>
        </p:txBody>
      </p:sp>
      <p:sp>
        <p:nvSpPr>
          <p:cNvPr id="9" name="Text 6"/>
          <p:cNvSpPr/>
          <p:nvPr/>
        </p:nvSpPr>
        <p:spPr>
          <a:xfrm>
            <a:off x="7035800" y="1047818"/>
            <a:ext cx="4473702" cy="292100"/>
          </a:xfrm>
          <a:prstGeom prst="rect">
            <a:avLst/>
          </a:prstGeom>
          <a:noFill/>
          <a:ln/>
        </p:spPr>
        <p:txBody>
          <a:bodyPr wrap="square" lIns="0" tIns="0" rIns="0" bIns="0" rtlCol="0" anchor="t">
            <a:normAutofit/>
          </a:bodyPr>
          <a:lstStyle/>
          <a:p>
            <a:pPr algn="l" indent="0" marL="0">
              <a:lnSpc>
                <a:spcPts val="2100"/>
              </a:lnSpc>
              <a:buNone/>
            </a:pPr>
            <a:r>
              <a:rPr lang="en-US" sz="1500" spc="150" kern="0" dirty="0">
                <a:solidFill>
                  <a:srgbClr val="B48CFF"/>
                </a:solidFill>
                <a:latin typeface="Courier Prime" pitchFamily="49" charset="0"/>
                <a:ea typeface="Courier Prime" pitchFamily="49" charset="-122"/>
                <a:cs typeface="Courier Prime" pitchFamily="49" charset="-120"/>
              </a:rPr>
              <a:t>DEMO</a:t>
            </a:r>
            <a:endParaRPr lang="en-US" sz="1500" dirty="0"/>
          </a:p>
        </p:txBody>
      </p:sp>
      <p:sp>
        <p:nvSpPr>
          <p:cNvPr id="10" name="Text 7"/>
          <p:cNvSpPr/>
          <p:nvPr>
            <p:ph type="title"/>
          </p:nvPr>
        </p:nvSpPr>
        <p:spPr>
          <a:xfrm>
            <a:off x="7035800" y="1441518"/>
            <a:ext cx="4473702" cy="1183614"/>
          </a:xfrm>
          <a:prstGeom prst="rect">
            <a:avLst/>
          </a:prstGeom>
          <a:noFill/>
          <a:ln/>
        </p:spPr>
        <p:txBody>
          <a:bodyPr wrap="square" lIns="0" tIns="0" rIns="0" bIns="0" rtlCol="0" anchor="t">
            <a:normAutofit/>
          </a:bodyPr>
          <a:lstStyle/>
          <a:p>
            <a:pPr algn="l" indent="0" marL="0">
              <a:lnSpc>
                <a:spcPts val="4560"/>
              </a:lnSpc>
              <a:buNone/>
            </a:pPr>
            <a:r>
              <a:rPr lang="en-US" sz="4800" b="1" i="0" dirty="0">
                <a:solidFill>
                  <a:srgbClr val="F1E8D6"/>
                </a:solidFill>
                <a:latin typeface="Big Shoulders Display" pitchFamily="34" charset="0"/>
                <a:ea typeface="Big Shoulders Display" pitchFamily="34" charset="-122"/>
                <a:cs typeface="Big Shoulders Display" pitchFamily="34" charset="-120"/>
              </a:rPr>
              <a:t>LA ÚLTIMA PALABRA ES HUMANA</a:t>
            </a:r>
            <a:endParaRPr lang="en-US" sz="4800" dirty="0"/>
          </a:p>
        </p:txBody>
      </p:sp>
      <p:sp>
        <p:nvSpPr>
          <p:cNvPr id="11" name="Text 8"/>
          <p:cNvSpPr/>
          <p:nvPr/>
        </p:nvSpPr>
        <p:spPr>
          <a:xfrm>
            <a:off x="7035800" y="2828330"/>
            <a:ext cx="148299"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48CFF"/>
                </a:solidFill>
                <a:latin typeface="Big Shoulders Display" pitchFamily="34" charset="0"/>
                <a:ea typeface="Big Shoulders Display" pitchFamily="34" charset="-122"/>
                <a:cs typeface="Big Shoulders Display" pitchFamily="34" charset="-120"/>
              </a:rPr>
              <a:t>1</a:t>
            </a:r>
            <a:endParaRPr lang="en-US" sz="2800" dirty="0"/>
          </a:p>
        </p:txBody>
      </p:sp>
      <p:sp>
        <p:nvSpPr>
          <p:cNvPr id="12" name="Text 9"/>
          <p:cNvSpPr/>
          <p:nvPr/>
        </p:nvSpPr>
        <p:spPr>
          <a:xfrm>
            <a:off x="7260299" y="2984965"/>
            <a:ext cx="2724547" cy="322527"/>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1E8D6"/>
                </a:solidFill>
                <a:latin typeface="Instrument Sans" pitchFamily="34" charset="0"/>
                <a:ea typeface="Instrument Sans" pitchFamily="34" charset="-122"/>
                <a:cs typeface="Instrument Sans" pitchFamily="34" charset="-120"/>
              </a:rPr>
              <a:t>Elegimos una película</a:t>
            </a:r>
            <a:endParaRPr lang="en-US" sz="1800" dirty="0"/>
          </a:p>
        </p:txBody>
      </p:sp>
      <p:sp>
        <p:nvSpPr>
          <p:cNvPr id="13" name="Text 10"/>
          <p:cNvSpPr/>
          <p:nvPr/>
        </p:nvSpPr>
        <p:spPr>
          <a:xfrm>
            <a:off x="7035800" y="3554747"/>
            <a:ext cx="225094"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48CFF"/>
                </a:solidFill>
                <a:latin typeface="Big Shoulders Display" pitchFamily="34" charset="0"/>
                <a:ea typeface="Big Shoulders Display" pitchFamily="34" charset="-122"/>
                <a:cs typeface="Big Shoulders Display" pitchFamily="34" charset="-120"/>
              </a:rPr>
              <a:t>2</a:t>
            </a:r>
            <a:endParaRPr lang="en-US" sz="2800" dirty="0"/>
          </a:p>
        </p:txBody>
      </p:sp>
      <p:sp>
        <p:nvSpPr>
          <p:cNvPr id="14" name="Text 11"/>
          <p:cNvSpPr/>
          <p:nvPr/>
        </p:nvSpPr>
        <p:spPr>
          <a:xfrm>
            <a:off x="7337095" y="3711377"/>
            <a:ext cx="4191952" cy="322527"/>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1E8D6"/>
                </a:solidFill>
                <a:latin typeface="Instrument Sans" pitchFamily="34" charset="0"/>
                <a:ea typeface="Instrument Sans" pitchFamily="34" charset="-122"/>
                <a:cs typeface="Instrument Sans" pitchFamily="34" charset="-120"/>
              </a:rPr>
              <a:t>Vemos presencia y protagonismo</a:t>
            </a:r>
            <a:endParaRPr lang="en-US" sz="1800" dirty="0"/>
          </a:p>
        </p:txBody>
      </p:sp>
      <p:sp>
        <p:nvSpPr>
          <p:cNvPr id="15" name="Text 12"/>
          <p:cNvSpPr/>
          <p:nvPr/>
        </p:nvSpPr>
        <p:spPr>
          <a:xfrm>
            <a:off x="7035800" y="4281159"/>
            <a:ext cx="230055"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48CFF"/>
                </a:solidFill>
                <a:latin typeface="Big Shoulders Display" pitchFamily="34" charset="0"/>
                <a:ea typeface="Big Shoulders Display" pitchFamily="34" charset="-122"/>
                <a:cs typeface="Big Shoulders Display" pitchFamily="34" charset="-120"/>
              </a:rPr>
              <a:t>3</a:t>
            </a:r>
            <a:endParaRPr lang="en-US" sz="2800" dirty="0"/>
          </a:p>
        </p:txBody>
      </p:sp>
      <p:sp>
        <p:nvSpPr>
          <p:cNvPr id="16" name="Text 13"/>
          <p:cNvSpPr/>
          <p:nvPr/>
        </p:nvSpPr>
        <p:spPr>
          <a:xfrm>
            <a:off x="7342056" y="4437794"/>
            <a:ext cx="4008438" cy="322527"/>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1E8D6"/>
                </a:solidFill>
                <a:latin typeface="Instrument Sans" pitchFamily="34" charset="0"/>
                <a:ea typeface="Instrument Sans" pitchFamily="34" charset="-122"/>
                <a:cs typeface="Instrument Sans" pitchFamily="34" charset="-120"/>
              </a:rPr>
              <a:t>Una persona revisa las etiquetas</a:t>
            </a:r>
            <a:endParaRPr lang="en-US" sz="1800" dirty="0"/>
          </a:p>
        </p:txBody>
      </p:sp>
      <p:sp>
        <p:nvSpPr>
          <p:cNvPr id="17" name="Text 14"/>
          <p:cNvSpPr/>
          <p:nvPr/>
        </p:nvSpPr>
        <p:spPr>
          <a:xfrm>
            <a:off x="7035800" y="5007570"/>
            <a:ext cx="232569"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48CFF"/>
                </a:solidFill>
                <a:latin typeface="Big Shoulders Display" pitchFamily="34" charset="0"/>
                <a:ea typeface="Big Shoulders Display" pitchFamily="34" charset="-122"/>
                <a:cs typeface="Big Shoulders Display" pitchFamily="34" charset="-120"/>
              </a:rPr>
              <a:t>4</a:t>
            </a:r>
            <a:endParaRPr lang="en-US" sz="2800" dirty="0"/>
          </a:p>
        </p:txBody>
      </p:sp>
      <p:sp>
        <p:nvSpPr>
          <p:cNvPr id="18" name="Text 15"/>
          <p:cNvSpPr/>
          <p:nvPr/>
        </p:nvSpPr>
        <p:spPr>
          <a:xfrm>
            <a:off x="7344569" y="5164206"/>
            <a:ext cx="3215084" cy="322527"/>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1E8D6"/>
                </a:solidFill>
                <a:latin typeface="Instrument Sans" pitchFamily="34" charset="0"/>
                <a:ea typeface="Instrument Sans" pitchFamily="34" charset="-122"/>
                <a:cs typeface="Instrument Sans" pitchFamily="34" charset="-120"/>
              </a:rPr>
              <a:t>Se recalculan las métricas</a:t>
            </a:r>
            <a:endParaRPr lang="en-US" sz="1800" dirty="0"/>
          </a:p>
        </p:txBody>
      </p:sp>
      <p:sp>
        <p:nvSpPr>
          <p:cNvPr id="19" name="Text 16"/>
          <p:cNvSpPr/>
          <p:nvPr/>
        </p:nvSpPr>
        <p:spPr>
          <a:xfrm>
            <a:off x="812800" y="6118889"/>
            <a:ext cx="78486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ADA’S HEIRS</a:t>
            </a:r>
            <a:endParaRPr lang="en-US" sz="1300" dirty="0"/>
          </a:p>
        </p:txBody>
      </p:sp>
      <p:sp>
        <p:nvSpPr>
          <p:cNvPr id="20" name="Text 17"/>
          <p:cNvSpPr/>
          <p:nvPr/>
        </p:nvSpPr>
        <p:spPr>
          <a:xfrm>
            <a:off x="10058400" y="61188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12</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812800" y="1239577"/>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50" kern="0" dirty="0">
                <a:solidFill>
                  <a:srgbClr val="B48CFF"/>
                </a:solidFill>
                <a:latin typeface="Courier Prime" pitchFamily="49" charset="0"/>
                <a:ea typeface="Courier Prime" pitchFamily="49" charset="-122"/>
                <a:cs typeface="Courier Prime" pitchFamily="49" charset="-120"/>
              </a:rPr>
              <a:t>PERSPECTIVA DE GÉNERO</a:t>
            </a:r>
            <a:endParaRPr lang="en-US" sz="1500" dirty="0"/>
          </a:p>
        </p:txBody>
      </p:sp>
      <p:sp>
        <p:nvSpPr>
          <p:cNvPr id="7" name="Text 5"/>
          <p:cNvSpPr/>
          <p:nvPr>
            <p:ph type="title"/>
          </p:nvPr>
        </p:nvSpPr>
        <p:spPr>
          <a:xfrm>
            <a:off x="812800" y="1633277"/>
            <a:ext cx="10883392" cy="652727"/>
          </a:xfrm>
          <a:prstGeom prst="rect">
            <a:avLst/>
          </a:prstGeom>
          <a:noFill/>
          <a:ln/>
        </p:spPr>
        <p:txBody>
          <a:bodyPr wrap="square" lIns="0" tIns="0" rIns="0" bIns="0" rtlCol="0" anchor="t">
            <a:normAutofit/>
          </a:bodyPr>
          <a:lstStyle/>
          <a:p>
            <a:pPr algn="l" indent="0" marL="0">
              <a:lnSpc>
                <a:spcPts val="4940"/>
              </a:lnSpc>
              <a:buNone/>
            </a:pPr>
            <a:r>
              <a:rPr lang="en-US" sz="5200" b="1" i="0" dirty="0">
                <a:solidFill>
                  <a:srgbClr val="F1E8D6"/>
                </a:solidFill>
                <a:latin typeface="Big Shoulders Display" pitchFamily="34" charset="0"/>
                <a:ea typeface="Big Shoulders Display" pitchFamily="34" charset="-122"/>
                <a:cs typeface="Big Shoulders Display" pitchFamily="34" charset="-120"/>
              </a:rPr>
              <a:t>UN SISTEMA QUE SABE CUÁNDO DUDAR</a:t>
            </a:r>
            <a:endParaRPr lang="en-US" sz="5200" dirty="0"/>
          </a:p>
        </p:txBody>
      </p:sp>
      <p:sp>
        <p:nvSpPr>
          <p:cNvPr id="8" name="Shape 6"/>
          <p:cNvSpPr/>
          <p:nvPr/>
        </p:nvSpPr>
        <p:spPr>
          <a:xfrm>
            <a:off x="812800" y="2686050"/>
            <a:ext cx="4978400" cy="0"/>
          </a:xfrm>
          <a:prstGeom prst="line">
            <a:avLst/>
          </a:prstGeom>
          <a:noFill/>
          <a:ln w="38100">
            <a:solidFill>
              <a:srgbClr val="B48CFF"/>
            </a:solidFill>
            <a:prstDash val="solid"/>
          </a:ln>
        </p:spPr>
      </p:sp>
      <p:sp>
        <p:nvSpPr>
          <p:cNvPr id="9" name="Text 7"/>
          <p:cNvSpPr/>
          <p:nvPr/>
        </p:nvSpPr>
        <p:spPr>
          <a:xfrm>
            <a:off x="812800" y="2857500"/>
            <a:ext cx="5127752"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1E8D6"/>
                </a:solidFill>
                <a:latin typeface="Big Shoulders Display" pitchFamily="34" charset="0"/>
                <a:ea typeface="Big Shoulders Display" pitchFamily="34" charset="-122"/>
                <a:cs typeface="Big Shoulders Display" pitchFamily="34" charset="-120"/>
              </a:rPr>
              <a:t>GÉNERO PERCIBIDO</a:t>
            </a:r>
            <a:endParaRPr lang="en-US" sz="2800" dirty="0"/>
          </a:p>
        </p:txBody>
      </p:sp>
      <p:sp>
        <p:nvSpPr>
          <p:cNvPr id="10" name="Text 8"/>
          <p:cNvSpPr/>
          <p:nvPr/>
        </p:nvSpPr>
        <p:spPr>
          <a:xfrm>
            <a:off x="812800" y="3289300"/>
            <a:ext cx="5127752" cy="574014"/>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E8D6"/>
                </a:solidFill>
                <a:latin typeface="Instrument Sans" pitchFamily="34" charset="0"/>
                <a:ea typeface="Instrument Sans" pitchFamily="34" charset="-122"/>
                <a:cs typeface="Instrument Sans" pitchFamily="34" charset="-120"/>
              </a:rPr>
              <a:t>No es la identidad de nadie: es lo que estima un modelo, y así lo decimos.</a:t>
            </a:r>
            <a:endParaRPr lang="en-US" sz="1600" dirty="0"/>
          </a:p>
        </p:txBody>
      </p:sp>
      <p:sp>
        <p:nvSpPr>
          <p:cNvPr id="11" name="Shape 9"/>
          <p:cNvSpPr/>
          <p:nvPr/>
        </p:nvSpPr>
        <p:spPr>
          <a:xfrm>
            <a:off x="6400800" y="2686050"/>
            <a:ext cx="4978400" cy="0"/>
          </a:xfrm>
          <a:prstGeom prst="line">
            <a:avLst/>
          </a:prstGeom>
          <a:noFill/>
          <a:ln w="38100">
            <a:solidFill>
              <a:srgbClr val="B48CFF"/>
            </a:solidFill>
            <a:prstDash val="solid"/>
          </a:ln>
        </p:spPr>
      </p:sp>
      <p:sp>
        <p:nvSpPr>
          <p:cNvPr id="12" name="Text 10"/>
          <p:cNvSpPr/>
          <p:nvPr/>
        </p:nvSpPr>
        <p:spPr>
          <a:xfrm>
            <a:off x="6400800" y="2857500"/>
            <a:ext cx="5127752"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1E8D6"/>
                </a:solidFill>
                <a:latin typeface="Big Shoulders Display" pitchFamily="34" charset="0"/>
                <a:ea typeface="Big Shoulders Display" pitchFamily="34" charset="-122"/>
                <a:cs typeface="Big Shoulders Display" pitchFamily="34" charset="-120"/>
              </a:rPr>
              <a:t>SIN DECIDIR, SI HAY DUDA</a:t>
            </a:r>
            <a:endParaRPr lang="en-US" sz="2800" dirty="0"/>
          </a:p>
        </p:txBody>
      </p:sp>
      <p:sp>
        <p:nvSpPr>
          <p:cNvPr id="13" name="Text 11"/>
          <p:cNvSpPr/>
          <p:nvPr/>
        </p:nvSpPr>
        <p:spPr>
          <a:xfrm>
            <a:off x="6400800" y="3289300"/>
            <a:ext cx="5127752" cy="299707"/>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E8D6"/>
                </a:solidFill>
                <a:latin typeface="Instrument Sans" pitchFamily="34" charset="0"/>
                <a:ea typeface="Instrument Sans" pitchFamily="34" charset="-122"/>
                <a:cs typeface="Instrument Sans" pitchFamily="34" charset="-120"/>
              </a:rPr>
              <a:t>Sin una mayoría clara no forzamos ninguna etiqueta.</a:t>
            </a:r>
            <a:endParaRPr lang="en-US" sz="1600" dirty="0"/>
          </a:p>
        </p:txBody>
      </p:sp>
      <p:sp>
        <p:nvSpPr>
          <p:cNvPr id="14" name="Shape 12"/>
          <p:cNvSpPr/>
          <p:nvPr/>
        </p:nvSpPr>
        <p:spPr>
          <a:xfrm>
            <a:off x="812800" y="4161768"/>
            <a:ext cx="4978400" cy="0"/>
          </a:xfrm>
          <a:prstGeom prst="line">
            <a:avLst/>
          </a:prstGeom>
          <a:noFill/>
          <a:ln w="38100">
            <a:solidFill>
              <a:srgbClr val="B48CFF"/>
            </a:solidFill>
            <a:prstDash val="solid"/>
          </a:ln>
        </p:spPr>
      </p:sp>
      <p:sp>
        <p:nvSpPr>
          <p:cNvPr id="15" name="Text 13"/>
          <p:cNvSpPr/>
          <p:nvPr/>
        </p:nvSpPr>
        <p:spPr>
          <a:xfrm>
            <a:off x="812800" y="4333218"/>
            <a:ext cx="5127752"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1E8D6"/>
                </a:solidFill>
                <a:latin typeface="Big Shoulders Display" pitchFamily="34" charset="0"/>
                <a:ea typeface="Big Shoulders Display" pitchFamily="34" charset="-122"/>
                <a:cs typeface="Big Shoulders Display" pitchFamily="34" charset="-120"/>
              </a:rPr>
              <a:t>BINARIO = LIMITACIÓN</a:t>
            </a:r>
            <a:endParaRPr lang="en-US" sz="2800" dirty="0"/>
          </a:p>
        </p:txBody>
      </p:sp>
      <p:sp>
        <p:nvSpPr>
          <p:cNvPr id="16" name="Text 14"/>
          <p:cNvSpPr/>
          <p:nvPr/>
        </p:nvSpPr>
        <p:spPr>
          <a:xfrm>
            <a:off x="812800" y="4765018"/>
            <a:ext cx="5127752" cy="574014"/>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E8D6"/>
                </a:solidFill>
                <a:latin typeface="Instrument Sans" pitchFamily="34" charset="0"/>
                <a:ea typeface="Instrument Sans" pitchFamily="34" charset="-122"/>
                <a:cs typeface="Instrument Sans" pitchFamily="34" charset="-120"/>
              </a:rPr>
              <a:t>Los modelos solo distinguen mujer u hombre. Lo documentamos como límite.</a:t>
            </a:r>
            <a:endParaRPr lang="en-US" sz="1600" dirty="0"/>
          </a:p>
        </p:txBody>
      </p:sp>
      <p:sp>
        <p:nvSpPr>
          <p:cNvPr id="17" name="Shape 15"/>
          <p:cNvSpPr/>
          <p:nvPr/>
        </p:nvSpPr>
        <p:spPr>
          <a:xfrm>
            <a:off x="6400800" y="4161768"/>
            <a:ext cx="4978400" cy="0"/>
          </a:xfrm>
          <a:prstGeom prst="line">
            <a:avLst/>
          </a:prstGeom>
          <a:noFill/>
          <a:ln w="38100">
            <a:solidFill>
              <a:srgbClr val="B48CFF"/>
            </a:solidFill>
            <a:prstDash val="solid"/>
          </a:ln>
        </p:spPr>
      </p:sp>
      <p:sp>
        <p:nvSpPr>
          <p:cNvPr id="18" name="Text 16"/>
          <p:cNvSpPr/>
          <p:nvPr/>
        </p:nvSpPr>
        <p:spPr>
          <a:xfrm>
            <a:off x="6400800" y="4333218"/>
            <a:ext cx="5127752"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1E8D6"/>
                </a:solidFill>
                <a:latin typeface="Big Shoulders Display" pitchFamily="34" charset="0"/>
                <a:ea typeface="Big Shoulders Display" pitchFamily="34" charset="-122"/>
                <a:cs typeface="Big Shoulders Display" pitchFamily="34" charset="-120"/>
              </a:rPr>
              <a:t>PRESENCIA ≠ PROTAGONISMO</a:t>
            </a:r>
            <a:endParaRPr lang="en-US" sz="2800" dirty="0"/>
          </a:p>
        </p:txBody>
      </p:sp>
      <p:sp>
        <p:nvSpPr>
          <p:cNvPr id="19" name="Text 17"/>
          <p:cNvSpPr/>
          <p:nvPr/>
        </p:nvSpPr>
        <p:spPr>
          <a:xfrm>
            <a:off x="6400800" y="4765018"/>
            <a:ext cx="5127752" cy="574014"/>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E8D6"/>
                </a:solidFill>
                <a:latin typeface="Instrument Sans" pitchFamily="34" charset="0"/>
                <a:ea typeface="Instrument Sans" pitchFamily="34" charset="-122"/>
                <a:cs typeface="Instrument Sans" pitchFamily="34" charset="-120"/>
              </a:rPr>
              <a:t>Salir mucho en un plano compartido no es lo mismo que ser el foco.</a:t>
            </a:r>
            <a:endParaRPr lang="en-US" sz="1600" dirty="0"/>
          </a:p>
        </p:txBody>
      </p:sp>
      <p:sp>
        <p:nvSpPr>
          <p:cNvPr id="20" name="Text 18"/>
          <p:cNvSpPr/>
          <p:nvPr/>
        </p:nvSpPr>
        <p:spPr>
          <a:xfrm>
            <a:off x="10058400" y="61188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13</a:t>
            </a:r>
            <a:endParaRPr lang="en-US" sz="1300" dirty="0"/>
          </a:p>
        </p:txBody>
      </p:sp>
      <p:sp>
        <p:nvSpPr>
          <p:cNvPr id="21" name="Text 19"/>
          <p:cNvSpPr/>
          <p:nvPr/>
        </p:nvSpPr>
        <p:spPr>
          <a:xfrm>
            <a:off x="812800" y="6118889"/>
            <a:ext cx="78486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ADA’S HEIRS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812800" y="102618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50" kern="0" dirty="0">
                <a:solidFill>
                  <a:srgbClr val="B48CFF"/>
                </a:solidFill>
                <a:latin typeface="Courier Prime" pitchFamily="49" charset="0"/>
                <a:ea typeface="Courier Prime" pitchFamily="49" charset="-122"/>
                <a:cs typeface="Courier Prime" pitchFamily="49" charset="-120"/>
              </a:rPr>
              <a:t>MARCO ÉTICO</a:t>
            </a:r>
            <a:endParaRPr lang="en-US" sz="1500" dirty="0"/>
          </a:p>
        </p:txBody>
      </p:sp>
      <p:sp>
        <p:nvSpPr>
          <p:cNvPr id="7" name="Text 5"/>
          <p:cNvSpPr/>
          <p:nvPr>
            <p:ph type="title"/>
          </p:nvPr>
        </p:nvSpPr>
        <p:spPr>
          <a:xfrm>
            <a:off x="812800" y="1419889"/>
            <a:ext cx="10883392" cy="652727"/>
          </a:xfrm>
          <a:prstGeom prst="rect">
            <a:avLst/>
          </a:prstGeom>
          <a:noFill/>
          <a:ln/>
        </p:spPr>
        <p:txBody>
          <a:bodyPr wrap="square" lIns="0" tIns="0" rIns="0" bIns="0" rtlCol="0" anchor="t">
            <a:normAutofit/>
          </a:bodyPr>
          <a:lstStyle/>
          <a:p>
            <a:pPr algn="l" indent="0" marL="0">
              <a:lnSpc>
                <a:spcPts val="4940"/>
              </a:lnSpc>
              <a:buNone/>
            </a:pPr>
            <a:r>
              <a:rPr lang="en-US" sz="5200" b="1" i="0" dirty="0">
                <a:solidFill>
                  <a:srgbClr val="F1E8D6"/>
                </a:solidFill>
                <a:latin typeface="Big Shoulders Display" pitchFamily="34" charset="0"/>
                <a:ea typeface="Big Shoulders Display" pitchFamily="34" charset="-122"/>
                <a:cs typeface="Big Shoulders Display" pitchFamily="34" charset="-120"/>
              </a:rPr>
              <a:t>7 PRINCIPIOS ÉTICOS, CUMPLIDOS</a:t>
            </a:r>
            <a:endParaRPr lang="en-US" sz="5200" dirty="0"/>
          </a:p>
        </p:txBody>
      </p:sp>
      <p:pic>
        <p:nvPicPr>
          <p:cNvPr id="8" name="Image 0" descr="Users">    </p:cNvPr>
          <p:cNvPicPr>
            <a:picLocks noChangeAspect="1"/>
          </p:cNvPicPr>
          <p:nvPr/>
        </p:nvPicPr>
        <p:blipFill>
          <a:blip r:embed="rId1"/>
          <a:srcRect l="0" r="0" t="0" b="0"/>
          <a:stretch/>
        </p:blipFill>
        <p:spPr>
          <a:xfrm>
            <a:off x="812800" y="2533588"/>
            <a:ext cx="355600" cy="355600"/>
          </a:xfrm>
          <a:prstGeom prst="rect">
            <a:avLst/>
          </a:prstGeom>
        </p:spPr>
      </p:pic>
      <p:sp>
        <p:nvSpPr>
          <p:cNvPr id="9" name="Text 6"/>
          <p:cNvSpPr/>
          <p:nvPr/>
        </p:nvSpPr>
        <p:spPr>
          <a:xfrm>
            <a:off x="1320800" y="2453618"/>
            <a:ext cx="4656836"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F1E8D6"/>
                </a:solidFill>
                <a:latin typeface="Big Shoulders Display" pitchFamily="34" charset="0"/>
                <a:ea typeface="Big Shoulders Display" pitchFamily="34" charset="-122"/>
                <a:cs typeface="Big Shoulders Display" pitchFamily="34" charset="-120"/>
              </a:rPr>
              <a:t>SUPERVISIÓN HUMANA</a:t>
            </a:r>
            <a:endParaRPr lang="en-US" sz="2000" dirty="0"/>
          </a:p>
        </p:txBody>
      </p:sp>
      <p:sp>
        <p:nvSpPr>
          <p:cNvPr id="10" name="Text 7"/>
          <p:cNvSpPr/>
          <p:nvPr/>
        </p:nvSpPr>
        <p:spPr>
          <a:xfrm>
            <a:off x="1320800" y="2720318"/>
            <a:ext cx="46568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6"/>
                </a:solidFill>
                <a:latin typeface="Instrument Sans" pitchFamily="34" charset="0"/>
                <a:ea typeface="Instrument Sans" pitchFamily="34" charset="-122"/>
                <a:cs typeface="Instrument Sans" pitchFamily="34" charset="-120"/>
              </a:rPr>
              <a:t>Una persona valida antes del informe</a:t>
            </a:r>
            <a:endParaRPr lang="en-US" sz="1400" dirty="0"/>
          </a:p>
        </p:txBody>
      </p:sp>
      <p:pic>
        <p:nvPicPr>
          <p:cNvPr id="11" name="Image 1" descr="Verified">    </p:cNvPr>
          <p:cNvPicPr>
            <a:picLocks noChangeAspect="1"/>
          </p:cNvPicPr>
          <p:nvPr/>
        </p:nvPicPr>
        <p:blipFill>
          <a:blip r:embed="rId2"/>
          <a:srcRect l="0" r="0" t="0" b="0"/>
          <a:stretch/>
        </p:blipFill>
        <p:spPr>
          <a:xfrm>
            <a:off x="6350000" y="2533588"/>
            <a:ext cx="355600" cy="355600"/>
          </a:xfrm>
          <a:prstGeom prst="rect">
            <a:avLst/>
          </a:prstGeom>
        </p:spPr>
      </p:pic>
      <p:sp>
        <p:nvSpPr>
          <p:cNvPr id="12" name="Text 8"/>
          <p:cNvSpPr/>
          <p:nvPr/>
        </p:nvSpPr>
        <p:spPr>
          <a:xfrm>
            <a:off x="6858000" y="2453618"/>
            <a:ext cx="4656836"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F1E8D6"/>
                </a:solidFill>
                <a:latin typeface="Big Shoulders Display" pitchFamily="34" charset="0"/>
                <a:ea typeface="Big Shoulders Display" pitchFamily="34" charset="-122"/>
                <a:cs typeface="Big Shoulders Display" pitchFamily="34" charset="-120"/>
              </a:rPr>
              <a:t>ROBUSTEZ TÉCNICA</a:t>
            </a:r>
            <a:endParaRPr lang="en-US" sz="2000" dirty="0"/>
          </a:p>
        </p:txBody>
      </p:sp>
      <p:sp>
        <p:nvSpPr>
          <p:cNvPr id="13" name="Text 9"/>
          <p:cNvSpPr/>
          <p:nvPr/>
        </p:nvSpPr>
        <p:spPr>
          <a:xfrm>
            <a:off x="6858000" y="2720318"/>
            <a:ext cx="46568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6"/>
                </a:solidFill>
                <a:latin typeface="Instrument Sans" pitchFamily="34" charset="0"/>
                <a:ea typeface="Instrument Sans" pitchFamily="34" charset="-122"/>
                <a:cs typeface="Instrument Sans" pitchFamily="34" charset="-120"/>
              </a:rPr>
              <a:t>Evaluación manual y votación por plano</a:t>
            </a:r>
            <a:endParaRPr lang="en-US" sz="1400" dirty="0"/>
          </a:p>
        </p:txBody>
      </p:sp>
      <p:pic>
        <p:nvPicPr>
          <p:cNvPr id="14" name="Image 2" descr="Lock">    </p:cNvPr>
          <p:cNvPicPr>
            <a:picLocks noChangeAspect="1"/>
          </p:cNvPicPr>
          <p:nvPr/>
        </p:nvPicPr>
        <p:blipFill>
          <a:blip r:embed="rId3"/>
          <a:srcRect l="0" r="0" t="0" b="0"/>
          <a:stretch/>
        </p:blipFill>
        <p:spPr>
          <a:xfrm>
            <a:off x="812800" y="3277791"/>
            <a:ext cx="355600" cy="355600"/>
          </a:xfrm>
          <a:prstGeom prst="rect">
            <a:avLst/>
          </a:prstGeom>
        </p:spPr>
      </p:pic>
      <p:sp>
        <p:nvSpPr>
          <p:cNvPr id="15" name="Text 10"/>
          <p:cNvSpPr/>
          <p:nvPr/>
        </p:nvSpPr>
        <p:spPr>
          <a:xfrm>
            <a:off x="1320800" y="3197820"/>
            <a:ext cx="4656836"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F1E8D6"/>
                </a:solidFill>
                <a:latin typeface="Big Shoulders Display" pitchFamily="34" charset="0"/>
                <a:ea typeface="Big Shoulders Display" pitchFamily="34" charset="-122"/>
                <a:cs typeface="Big Shoulders Display" pitchFamily="34" charset="-120"/>
              </a:rPr>
              <a:t>PRIVACIDAD</a:t>
            </a:r>
            <a:endParaRPr lang="en-US" sz="2000" dirty="0"/>
          </a:p>
        </p:txBody>
      </p:sp>
      <p:sp>
        <p:nvSpPr>
          <p:cNvPr id="16" name="Text 11"/>
          <p:cNvSpPr/>
          <p:nvPr/>
        </p:nvSpPr>
        <p:spPr>
          <a:xfrm>
            <a:off x="1320800" y="3464520"/>
            <a:ext cx="46568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6"/>
                </a:solidFill>
                <a:latin typeface="Instrument Sans" pitchFamily="34" charset="0"/>
                <a:ea typeface="Instrument Sans" pitchFamily="34" charset="-122"/>
                <a:cs typeface="Instrument Sans" pitchFamily="34" charset="-120"/>
              </a:rPr>
              <a:t>No guardamos caras ni identificamos a nadie</a:t>
            </a:r>
            <a:endParaRPr lang="en-US" sz="1400" dirty="0"/>
          </a:p>
        </p:txBody>
      </p:sp>
      <p:pic>
        <p:nvPicPr>
          <p:cNvPr id="17" name="Image 3" descr="Search">    </p:cNvPr>
          <p:cNvPicPr>
            <a:picLocks noChangeAspect="1"/>
          </p:cNvPicPr>
          <p:nvPr/>
        </p:nvPicPr>
        <p:blipFill>
          <a:blip r:embed="rId4"/>
          <a:srcRect l="0" r="0" t="0" b="0"/>
          <a:stretch/>
        </p:blipFill>
        <p:spPr>
          <a:xfrm>
            <a:off x="6350000" y="3277791"/>
            <a:ext cx="355600" cy="355600"/>
          </a:xfrm>
          <a:prstGeom prst="rect">
            <a:avLst/>
          </a:prstGeom>
        </p:spPr>
      </p:pic>
      <p:sp>
        <p:nvSpPr>
          <p:cNvPr id="18" name="Text 12"/>
          <p:cNvSpPr/>
          <p:nvPr/>
        </p:nvSpPr>
        <p:spPr>
          <a:xfrm>
            <a:off x="6858000" y="3197820"/>
            <a:ext cx="4656836"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F1E8D6"/>
                </a:solidFill>
                <a:latin typeface="Big Shoulders Display" pitchFamily="34" charset="0"/>
                <a:ea typeface="Big Shoulders Display" pitchFamily="34" charset="-122"/>
                <a:cs typeface="Big Shoulders Display" pitchFamily="34" charset="-120"/>
              </a:rPr>
              <a:t>TRANSPARENCIA</a:t>
            </a:r>
            <a:endParaRPr lang="en-US" sz="2000" dirty="0"/>
          </a:p>
        </p:txBody>
      </p:sp>
      <p:sp>
        <p:nvSpPr>
          <p:cNvPr id="19" name="Text 13"/>
          <p:cNvSpPr/>
          <p:nvPr/>
        </p:nvSpPr>
        <p:spPr>
          <a:xfrm>
            <a:off x="6858000" y="3464520"/>
            <a:ext cx="46568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6"/>
                </a:solidFill>
                <a:latin typeface="Instrument Sans" pitchFamily="34" charset="0"/>
                <a:ea typeface="Instrument Sans" pitchFamily="34" charset="-122"/>
                <a:cs typeface="Instrument Sans" pitchFamily="34" charset="-120"/>
              </a:rPr>
              <a:t>Código, métricas y pesos públicos</a:t>
            </a:r>
            <a:endParaRPr lang="en-US" sz="1400" dirty="0"/>
          </a:p>
        </p:txBody>
      </p:sp>
      <p:pic>
        <p:nvPicPr>
          <p:cNvPr id="20" name="Image 4" descr="Star">    </p:cNvPr>
          <p:cNvPicPr>
            <a:picLocks noChangeAspect="1"/>
          </p:cNvPicPr>
          <p:nvPr/>
        </p:nvPicPr>
        <p:blipFill>
          <a:blip r:embed="rId5"/>
          <a:srcRect l="0" r="0" t="0" b="0"/>
          <a:stretch/>
        </p:blipFill>
        <p:spPr>
          <a:xfrm>
            <a:off x="812800" y="4021999"/>
            <a:ext cx="355600" cy="355600"/>
          </a:xfrm>
          <a:prstGeom prst="rect">
            <a:avLst/>
          </a:prstGeom>
        </p:spPr>
      </p:pic>
      <p:sp>
        <p:nvSpPr>
          <p:cNvPr id="21" name="Text 14"/>
          <p:cNvSpPr/>
          <p:nvPr/>
        </p:nvSpPr>
        <p:spPr>
          <a:xfrm>
            <a:off x="1320800" y="3942029"/>
            <a:ext cx="4656836"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F1E8D6"/>
                </a:solidFill>
                <a:latin typeface="Big Shoulders Display" pitchFamily="34" charset="0"/>
                <a:ea typeface="Big Shoulders Display" pitchFamily="34" charset="-122"/>
                <a:cs typeface="Big Shoulders Display" pitchFamily="34" charset="-120"/>
              </a:rPr>
              <a:t>DIVERSIDAD Y EQUIDAD</a:t>
            </a:r>
            <a:endParaRPr lang="en-US" sz="2000" dirty="0"/>
          </a:p>
        </p:txBody>
      </p:sp>
      <p:sp>
        <p:nvSpPr>
          <p:cNvPr id="22" name="Text 15"/>
          <p:cNvSpPr/>
          <p:nvPr/>
        </p:nvSpPr>
        <p:spPr>
          <a:xfrm>
            <a:off x="1320800" y="4208729"/>
            <a:ext cx="46568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6"/>
                </a:solidFill>
                <a:latin typeface="Instrument Sans" pitchFamily="34" charset="0"/>
                <a:ea typeface="Instrument Sans" pitchFamily="34" charset="-122"/>
                <a:cs typeface="Instrument Sans" pitchFamily="34" charset="-120"/>
              </a:rPr>
              <a:t>Medimos los errores por género y tipo de película</a:t>
            </a:r>
            <a:endParaRPr lang="en-US" sz="1400" dirty="0"/>
          </a:p>
        </p:txBody>
      </p:sp>
      <p:pic>
        <p:nvPicPr>
          <p:cNvPr id="23" name="Image 5" descr="Globe">    </p:cNvPr>
          <p:cNvPicPr>
            <a:picLocks noChangeAspect="1"/>
          </p:cNvPicPr>
          <p:nvPr/>
        </p:nvPicPr>
        <p:blipFill>
          <a:blip r:embed="rId6"/>
          <a:srcRect l="0" r="0" t="0" b="0"/>
          <a:stretch/>
        </p:blipFill>
        <p:spPr>
          <a:xfrm>
            <a:off x="6350000" y="4021999"/>
            <a:ext cx="355600" cy="355600"/>
          </a:xfrm>
          <a:prstGeom prst="rect">
            <a:avLst/>
          </a:prstGeom>
        </p:spPr>
      </p:pic>
      <p:sp>
        <p:nvSpPr>
          <p:cNvPr id="24" name="Text 16"/>
          <p:cNvSpPr/>
          <p:nvPr/>
        </p:nvSpPr>
        <p:spPr>
          <a:xfrm>
            <a:off x="6858000" y="3942029"/>
            <a:ext cx="4656836"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F1E8D6"/>
                </a:solidFill>
                <a:latin typeface="Big Shoulders Display" pitchFamily="34" charset="0"/>
                <a:ea typeface="Big Shoulders Display" pitchFamily="34" charset="-122"/>
                <a:cs typeface="Big Shoulders Display" pitchFamily="34" charset="-120"/>
              </a:rPr>
              <a:t>BIENESTAR AMBIENTAL</a:t>
            </a:r>
            <a:endParaRPr lang="en-US" sz="2000" dirty="0"/>
          </a:p>
        </p:txBody>
      </p:sp>
      <p:sp>
        <p:nvSpPr>
          <p:cNvPr id="25" name="Text 17"/>
          <p:cNvSpPr/>
          <p:nvPr/>
        </p:nvSpPr>
        <p:spPr>
          <a:xfrm>
            <a:off x="6858000" y="4208729"/>
            <a:ext cx="46568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6"/>
                </a:solidFill>
                <a:latin typeface="Instrument Sans" pitchFamily="34" charset="0"/>
                <a:ea typeface="Instrument Sans" pitchFamily="34" charset="-122"/>
                <a:cs typeface="Instrument Sans" pitchFamily="34" charset="-120"/>
              </a:rPr>
              <a:t>Pruebas en local; GPU solo cuando hace falta</a:t>
            </a:r>
            <a:endParaRPr lang="en-US" sz="1400" dirty="0"/>
          </a:p>
        </p:txBody>
      </p:sp>
      <p:pic>
        <p:nvPicPr>
          <p:cNvPr id="26" name="Image 6" descr="Book">    </p:cNvPr>
          <p:cNvPicPr>
            <a:picLocks noChangeAspect="1"/>
          </p:cNvPicPr>
          <p:nvPr/>
        </p:nvPicPr>
        <p:blipFill>
          <a:blip r:embed="rId7"/>
          <a:srcRect l="0" r="0" t="0" b="0"/>
          <a:stretch/>
        </p:blipFill>
        <p:spPr>
          <a:xfrm>
            <a:off x="812800" y="4928791"/>
            <a:ext cx="355600" cy="355600"/>
          </a:xfrm>
          <a:prstGeom prst="rect">
            <a:avLst/>
          </a:prstGeom>
        </p:spPr>
      </p:pic>
      <p:sp>
        <p:nvSpPr>
          <p:cNvPr id="27" name="Text 18"/>
          <p:cNvSpPr/>
          <p:nvPr/>
        </p:nvSpPr>
        <p:spPr>
          <a:xfrm>
            <a:off x="1320800" y="4848758"/>
            <a:ext cx="4656836" cy="279400"/>
          </a:xfrm>
          <a:prstGeom prst="rect">
            <a:avLst/>
          </a:prstGeom>
          <a:noFill/>
          <a:ln/>
        </p:spPr>
        <p:txBody>
          <a:bodyPr wrap="square" lIns="0" tIns="0" rIns="0" bIns="0" rtlCol="0" anchor="t">
            <a:normAutofit/>
          </a:bodyPr>
          <a:lstStyle/>
          <a:p>
            <a:pPr algn="l" indent="0" marL="0">
              <a:lnSpc>
                <a:spcPts val="2000"/>
              </a:lnSpc>
              <a:buNone/>
            </a:pPr>
            <a:r>
              <a:rPr lang="en-US" sz="2000" b="1" dirty="0">
                <a:solidFill>
                  <a:srgbClr val="F1E8D6"/>
                </a:solidFill>
                <a:latin typeface="Big Shoulders Display" pitchFamily="34" charset="0"/>
                <a:ea typeface="Big Shoulders Display" pitchFamily="34" charset="-122"/>
                <a:cs typeface="Big Shoulders Display" pitchFamily="34" charset="-120"/>
              </a:rPr>
              <a:t>RENDICIÓN DE CUENTAS</a:t>
            </a:r>
            <a:endParaRPr lang="en-US" sz="2000" dirty="0"/>
          </a:p>
        </p:txBody>
      </p:sp>
      <p:sp>
        <p:nvSpPr>
          <p:cNvPr id="28" name="Text 19"/>
          <p:cNvSpPr/>
          <p:nvPr/>
        </p:nvSpPr>
        <p:spPr>
          <a:xfrm>
            <a:off x="1320800" y="5115458"/>
            <a:ext cx="46568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6"/>
                </a:solidFill>
                <a:latin typeface="Instrument Sans" pitchFamily="34" charset="0"/>
                <a:ea typeface="Instrument Sans" pitchFamily="34" charset="-122"/>
                <a:cs typeface="Instrument Sans" pitchFamily="34" charset="-120"/>
              </a:rPr>
              <a:t>Registro de cada decisión en el repositorio</a:t>
            </a:r>
            <a:endParaRPr lang="en-US" sz="1400" dirty="0"/>
          </a:p>
        </p:txBody>
      </p:sp>
      <p:sp>
        <p:nvSpPr>
          <p:cNvPr id="29" name="Shape 20"/>
          <p:cNvSpPr/>
          <p:nvPr/>
        </p:nvSpPr>
        <p:spPr>
          <a:xfrm>
            <a:off x="6350000" y="4686238"/>
            <a:ext cx="5029200" cy="840714"/>
          </a:xfrm>
          <a:prstGeom prst="roundRect">
            <a:avLst>
              <a:gd name="adj" fmla="val 9064"/>
            </a:avLst>
          </a:prstGeom>
          <a:solidFill>
            <a:srgbClr val="B48CFF"/>
          </a:solidFill>
          <a:ln/>
        </p:spPr>
      </p:sp>
      <p:pic>
        <p:nvPicPr>
          <p:cNvPr id="30" name="Image 7" descr="Check">    </p:cNvPr>
          <p:cNvPicPr>
            <a:picLocks noChangeAspect="1"/>
          </p:cNvPicPr>
          <p:nvPr/>
        </p:nvPicPr>
        <p:blipFill>
          <a:blip r:embed="rId8"/>
          <a:srcRect l="0" r="0" t="0" b="0"/>
          <a:stretch/>
        </p:blipFill>
        <p:spPr>
          <a:xfrm>
            <a:off x="6527800" y="4928791"/>
            <a:ext cx="355600" cy="355600"/>
          </a:xfrm>
          <a:prstGeom prst="rect">
            <a:avLst/>
          </a:prstGeom>
        </p:spPr>
      </p:pic>
      <p:sp>
        <p:nvSpPr>
          <p:cNvPr id="31" name="Text 21"/>
          <p:cNvSpPr/>
          <p:nvPr/>
        </p:nvSpPr>
        <p:spPr>
          <a:xfrm>
            <a:off x="7035800" y="4813238"/>
            <a:ext cx="4290568" cy="612114"/>
          </a:xfrm>
          <a:prstGeom prst="rect">
            <a:avLst/>
          </a:prstGeom>
          <a:noFill/>
          <a:ln/>
        </p:spPr>
        <p:txBody>
          <a:bodyPr wrap="square" lIns="0" tIns="0" rIns="0" bIns="0" rtlCol="0" anchor="t">
            <a:normAutofit/>
          </a:bodyPr>
          <a:lstStyle/>
          <a:p>
            <a:pPr algn="l" indent="0" marL="0">
              <a:lnSpc>
                <a:spcPts val="2310"/>
              </a:lnSpc>
              <a:buNone/>
            </a:pPr>
            <a:r>
              <a:rPr lang="en-US" sz="2200" b="1" dirty="0">
                <a:solidFill>
                  <a:srgbClr val="0D0C0A"/>
                </a:solidFill>
                <a:latin typeface="Big Shoulders Display" pitchFamily="34" charset="0"/>
                <a:ea typeface="Big Shoulders Display" pitchFamily="34" charset="-122"/>
                <a:cs typeface="Big Shoulders Display" pitchFamily="34" charset="-120"/>
              </a:rPr>
              <a:t>SEGÚN LAS DIRECTRICES DE LA UE PARA UNA IA FIABLE</a:t>
            </a:r>
            <a:endParaRPr lang="en-US" sz="2200" dirty="0"/>
          </a:p>
        </p:txBody>
      </p:sp>
      <p:sp>
        <p:nvSpPr>
          <p:cNvPr id="32" name="Text 22"/>
          <p:cNvSpPr/>
          <p:nvPr/>
        </p:nvSpPr>
        <p:spPr>
          <a:xfrm>
            <a:off x="812800" y="6118889"/>
            <a:ext cx="78486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ADA’S HEIRS</a:t>
            </a:r>
            <a:endParaRPr lang="en-US" sz="1300" dirty="0"/>
          </a:p>
        </p:txBody>
      </p:sp>
      <p:sp>
        <p:nvSpPr>
          <p:cNvPr id="33" name="Text 23"/>
          <p:cNvSpPr/>
          <p:nvPr/>
        </p:nvSpPr>
        <p:spPr>
          <a:xfrm>
            <a:off x="10058400" y="61188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14</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812800" y="1388207"/>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50" kern="0" dirty="0">
                <a:solidFill>
                  <a:srgbClr val="B48CFF"/>
                </a:solidFill>
                <a:latin typeface="Courier Prime" pitchFamily="49" charset="0"/>
                <a:ea typeface="Courier Prime" pitchFamily="49" charset="-122"/>
                <a:cs typeface="Courier Prime" pitchFamily="49" charset="-120"/>
              </a:rPr>
              <a:t>CUMPLIMIENTO NORMATIVO</a:t>
            </a:r>
            <a:endParaRPr lang="en-US" sz="1500" dirty="0"/>
          </a:p>
        </p:txBody>
      </p:sp>
      <p:sp>
        <p:nvSpPr>
          <p:cNvPr id="7" name="Text 5"/>
          <p:cNvSpPr/>
          <p:nvPr>
            <p:ph type="title"/>
          </p:nvPr>
        </p:nvSpPr>
        <p:spPr>
          <a:xfrm>
            <a:off x="812800" y="1781907"/>
            <a:ext cx="10883392" cy="652727"/>
          </a:xfrm>
          <a:prstGeom prst="rect">
            <a:avLst/>
          </a:prstGeom>
          <a:noFill/>
          <a:ln/>
        </p:spPr>
        <p:txBody>
          <a:bodyPr wrap="square" lIns="0" tIns="0" rIns="0" bIns="0" rtlCol="0" anchor="t">
            <a:normAutofit/>
          </a:bodyPr>
          <a:lstStyle/>
          <a:p>
            <a:pPr algn="l" indent="0" marL="0">
              <a:lnSpc>
                <a:spcPts val="4940"/>
              </a:lnSpc>
              <a:buNone/>
            </a:pPr>
            <a:r>
              <a:rPr lang="en-US" sz="5200" b="1" i="0" dirty="0">
                <a:solidFill>
                  <a:srgbClr val="F1E8D6"/>
                </a:solidFill>
                <a:latin typeface="Big Shoulders Display" pitchFamily="34" charset="0"/>
                <a:ea typeface="Big Shoulders Display" pitchFamily="34" charset="-122"/>
                <a:cs typeface="Big Shoulders Display" pitchFamily="34" charset="-120"/>
              </a:rPr>
              <a:t>TRES LEYES, TRES RESPUESTAS</a:t>
            </a:r>
            <a:endParaRPr lang="en-US" sz="5200" dirty="0"/>
          </a:p>
        </p:txBody>
      </p:sp>
      <p:sp>
        <p:nvSpPr>
          <p:cNvPr id="8" name="Shape 6"/>
          <p:cNvSpPr/>
          <p:nvPr/>
        </p:nvSpPr>
        <p:spPr>
          <a:xfrm>
            <a:off x="812800" y="2834680"/>
            <a:ext cx="3251200" cy="0"/>
          </a:xfrm>
          <a:prstGeom prst="line">
            <a:avLst/>
          </a:prstGeom>
          <a:noFill/>
          <a:ln w="38100">
            <a:solidFill>
              <a:srgbClr val="B48CFF"/>
            </a:solidFill>
            <a:prstDash val="solid"/>
          </a:ln>
        </p:spPr>
      </p:sp>
      <p:sp>
        <p:nvSpPr>
          <p:cNvPr id="9" name="Text 7"/>
          <p:cNvSpPr/>
          <p:nvPr/>
        </p:nvSpPr>
        <p:spPr>
          <a:xfrm>
            <a:off x="812800" y="3031530"/>
            <a:ext cx="334873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1E8D6"/>
                </a:solidFill>
                <a:latin typeface="Big Shoulders Display" pitchFamily="34" charset="0"/>
                <a:ea typeface="Big Shoulders Display" pitchFamily="34" charset="-122"/>
                <a:cs typeface="Big Shoulders Display" pitchFamily="34" charset="-120"/>
              </a:rPr>
              <a:t>REGLAMENTO DE IA</a:t>
            </a:r>
            <a:endParaRPr lang="en-US" sz="2800" dirty="0"/>
          </a:p>
        </p:txBody>
      </p:sp>
      <p:sp>
        <p:nvSpPr>
          <p:cNvPr id="10" name="Text 8"/>
          <p:cNvSpPr/>
          <p:nvPr/>
        </p:nvSpPr>
        <p:spPr>
          <a:xfrm>
            <a:off x="812800" y="3539530"/>
            <a:ext cx="334873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1E8D6"/>
                </a:solidFill>
                <a:latin typeface="Instrument Sans" pitchFamily="34" charset="0"/>
                <a:ea typeface="Instrument Sans" pitchFamily="34" charset="-122"/>
                <a:cs typeface="Instrument Sans" pitchFamily="34" charset="-120"/>
              </a:rPr>
              <a:t>No reconocemos quién es nadie.</a:t>
            </a:r>
            <a:endParaRPr lang="en-US" sz="1600" dirty="0"/>
          </a:p>
        </p:txBody>
      </p:sp>
      <p:sp>
        <p:nvSpPr>
          <p:cNvPr id="11" name="Text 9"/>
          <p:cNvSpPr/>
          <p:nvPr/>
        </p:nvSpPr>
        <p:spPr>
          <a:xfrm>
            <a:off x="812800" y="3956050"/>
            <a:ext cx="3348736"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1E8D6"/>
                </a:solidFill>
                <a:latin typeface="Instrument Sans" pitchFamily="34" charset="0"/>
                <a:ea typeface="Instrument Sans" pitchFamily="34" charset="-122"/>
                <a:cs typeface="Instrument Sans" pitchFamily="34" charset="-120"/>
              </a:rPr>
              <a:t>Solo estadísticas, nunca decisiones sobre personas.</a:t>
            </a:r>
            <a:endParaRPr lang="en-US" sz="1600" dirty="0"/>
          </a:p>
        </p:txBody>
      </p:sp>
      <p:sp>
        <p:nvSpPr>
          <p:cNvPr id="12" name="Text 10"/>
          <p:cNvSpPr/>
          <p:nvPr/>
        </p:nvSpPr>
        <p:spPr>
          <a:xfrm>
            <a:off x="812800" y="4636691"/>
            <a:ext cx="334873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1E8D6"/>
                </a:solidFill>
                <a:latin typeface="Instrument Sans" pitchFamily="34" charset="0"/>
                <a:ea typeface="Instrument Sans" pitchFamily="34" charset="-122"/>
                <a:cs typeface="Instrument Sans" pitchFamily="34" charset="-120"/>
              </a:rPr>
              <a:t>Revisión humana obligatoria.</a:t>
            </a:r>
            <a:endParaRPr lang="en-US" sz="1600" dirty="0"/>
          </a:p>
        </p:txBody>
      </p:sp>
      <p:sp>
        <p:nvSpPr>
          <p:cNvPr id="13" name="Shape 11"/>
          <p:cNvSpPr/>
          <p:nvPr/>
        </p:nvSpPr>
        <p:spPr>
          <a:xfrm>
            <a:off x="4470400" y="2834680"/>
            <a:ext cx="3251200" cy="0"/>
          </a:xfrm>
          <a:prstGeom prst="line">
            <a:avLst/>
          </a:prstGeom>
          <a:noFill/>
          <a:ln w="38100">
            <a:solidFill>
              <a:srgbClr val="B48CFF"/>
            </a:solidFill>
            <a:prstDash val="solid"/>
          </a:ln>
        </p:spPr>
      </p:sp>
      <p:sp>
        <p:nvSpPr>
          <p:cNvPr id="14" name="Text 12"/>
          <p:cNvSpPr/>
          <p:nvPr/>
        </p:nvSpPr>
        <p:spPr>
          <a:xfrm>
            <a:off x="4470400" y="3031530"/>
            <a:ext cx="334873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1E8D6"/>
                </a:solidFill>
                <a:latin typeface="Big Shoulders Display" pitchFamily="34" charset="0"/>
                <a:ea typeface="Big Shoulders Display" pitchFamily="34" charset="-122"/>
                <a:cs typeface="Big Shoulders Display" pitchFamily="34" charset="-120"/>
              </a:rPr>
              <a:t>RGPD</a:t>
            </a:r>
            <a:endParaRPr lang="en-US" sz="2800" dirty="0"/>
          </a:p>
        </p:txBody>
      </p:sp>
      <p:sp>
        <p:nvSpPr>
          <p:cNvPr id="15" name="Text 13"/>
          <p:cNvSpPr/>
          <p:nvPr/>
        </p:nvSpPr>
        <p:spPr>
          <a:xfrm>
            <a:off x="4470400" y="3539530"/>
            <a:ext cx="334873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1E8D6"/>
                </a:solidFill>
                <a:latin typeface="Instrument Sans" pitchFamily="34" charset="0"/>
                <a:ea typeface="Instrument Sans" pitchFamily="34" charset="-122"/>
                <a:cs typeface="Instrument Sans" pitchFamily="34" charset="-120"/>
              </a:rPr>
              <a:t>Solo guardamos datos agregados.</a:t>
            </a:r>
            <a:endParaRPr lang="en-US" sz="1600" dirty="0"/>
          </a:p>
        </p:txBody>
      </p:sp>
      <p:sp>
        <p:nvSpPr>
          <p:cNvPr id="16" name="Text 14"/>
          <p:cNvSpPr/>
          <p:nvPr/>
        </p:nvSpPr>
        <p:spPr>
          <a:xfrm>
            <a:off x="4470400" y="3956050"/>
            <a:ext cx="3348736"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1E8D6"/>
                </a:solidFill>
                <a:latin typeface="Instrument Sans" pitchFamily="34" charset="0"/>
                <a:ea typeface="Instrument Sans" pitchFamily="34" charset="-122"/>
                <a:cs typeface="Instrument Sans" pitchFamily="34" charset="-120"/>
              </a:rPr>
              <a:t>Ninguna cara ni recorte se almacena.</a:t>
            </a:r>
            <a:endParaRPr lang="en-US" sz="1600" dirty="0"/>
          </a:p>
        </p:txBody>
      </p:sp>
      <p:sp>
        <p:nvSpPr>
          <p:cNvPr id="17" name="Text 15"/>
          <p:cNvSpPr/>
          <p:nvPr/>
        </p:nvSpPr>
        <p:spPr>
          <a:xfrm>
            <a:off x="4470400" y="4636691"/>
            <a:ext cx="3348736"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1E8D6"/>
                </a:solidFill>
                <a:latin typeface="Instrument Sans" pitchFamily="34" charset="0"/>
                <a:ea typeface="Instrument Sans" pitchFamily="34" charset="-122"/>
                <a:cs typeface="Instrument Sans" pitchFamily="34" charset="-120"/>
              </a:rPr>
              <a:t>Intérpretes públicos en obras publicadas.</a:t>
            </a:r>
            <a:endParaRPr lang="en-US" sz="1600" dirty="0"/>
          </a:p>
        </p:txBody>
      </p:sp>
      <p:sp>
        <p:nvSpPr>
          <p:cNvPr id="18" name="Shape 16"/>
          <p:cNvSpPr/>
          <p:nvPr/>
        </p:nvSpPr>
        <p:spPr>
          <a:xfrm>
            <a:off x="8128000" y="2834680"/>
            <a:ext cx="3251200" cy="0"/>
          </a:xfrm>
          <a:prstGeom prst="line">
            <a:avLst/>
          </a:prstGeom>
          <a:noFill/>
          <a:ln w="38100">
            <a:solidFill>
              <a:srgbClr val="B48CFF"/>
            </a:solidFill>
            <a:prstDash val="solid"/>
          </a:ln>
        </p:spPr>
      </p:sp>
      <p:sp>
        <p:nvSpPr>
          <p:cNvPr id="19" name="Text 17"/>
          <p:cNvSpPr/>
          <p:nvPr/>
        </p:nvSpPr>
        <p:spPr>
          <a:xfrm>
            <a:off x="8128000" y="3031530"/>
            <a:ext cx="334873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1E8D6"/>
                </a:solidFill>
                <a:latin typeface="Big Shoulders Display" pitchFamily="34" charset="0"/>
                <a:ea typeface="Big Shoulders Display" pitchFamily="34" charset="-122"/>
                <a:cs typeface="Big Shoulders Display" pitchFamily="34" charset="-120"/>
              </a:rPr>
              <a:t>DERECHOS DE AUTOR</a:t>
            </a:r>
            <a:endParaRPr lang="en-US" sz="2800" dirty="0"/>
          </a:p>
        </p:txBody>
      </p:sp>
      <p:sp>
        <p:nvSpPr>
          <p:cNvPr id="20" name="Text 18"/>
          <p:cNvSpPr/>
          <p:nvPr/>
        </p:nvSpPr>
        <p:spPr>
          <a:xfrm>
            <a:off x="8128000" y="3539530"/>
            <a:ext cx="3348736"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1E8D6"/>
                </a:solidFill>
                <a:latin typeface="Instrument Sans" pitchFamily="34" charset="0"/>
                <a:ea typeface="Instrument Sans" pitchFamily="34" charset="-122"/>
                <a:cs typeface="Instrument Sans" pitchFamily="34" charset="-120"/>
              </a:rPr>
              <a:t>Películas de dominio público.</a:t>
            </a:r>
            <a:endParaRPr lang="en-US" sz="1600" dirty="0"/>
          </a:p>
        </p:txBody>
      </p:sp>
      <p:sp>
        <p:nvSpPr>
          <p:cNvPr id="21" name="Text 19"/>
          <p:cNvSpPr/>
          <p:nvPr/>
        </p:nvSpPr>
        <p:spPr>
          <a:xfrm>
            <a:off x="8128000" y="3956050"/>
            <a:ext cx="3348736"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1E8D6"/>
                </a:solidFill>
                <a:latin typeface="Instrument Sans" pitchFamily="34" charset="0"/>
                <a:ea typeface="Instrument Sans" pitchFamily="34" charset="-122"/>
                <a:cs typeface="Instrument Sans" pitchFamily="34" charset="-120"/>
              </a:rPr>
              <a:t>No redistribuimos vídeos ni fragmentos.</a:t>
            </a:r>
            <a:endParaRPr lang="en-US" sz="1600" dirty="0"/>
          </a:p>
        </p:txBody>
      </p:sp>
      <p:sp>
        <p:nvSpPr>
          <p:cNvPr id="22" name="Text 20"/>
          <p:cNvSpPr/>
          <p:nvPr/>
        </p:nvSpPr>
        <p:spPr>
          <a:xfrm>
            <a:off x="8128000" y="4636691"/>
            <a:ext cx="3348736"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1E8D6"/>
                </a:solidFill>
                <a:latin typeface="Instrument Sans" pitchFamily="34" charset="0"/>
                <a:ea typeface="Instrument Sans" pitchFamily="34" charset="-122"/>
                <a:cs typeface="Instrument Sans" pitchFamily="34" charset="-120"/>
              </a:rPr>
              <a:t>Minería de datos, Directiva (UE) 2019/790.</a:t>
            </a:r>
            <a:endParaRPr lang="en-US" sz="1600" dirty="0"/>
          </a:p>
        </p:txBody>
      </p:sp>
      <p:sp>
        <p:nvSpPr>
          <p:cNvPr id="23" name="Text 21"/>
          <p:cNvSpPr/>
          <p:nvPr/>
        </p:nvSpPr>
        <p:spPr>
          <a:xfrm>
            <a:off x="812800" y="6118889"/>
            <a:ext cx="78486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ADA’S HEIRS</a:t>
            </a:r>
            <a:endParaRPr lang="en-US" sz="1300" dirty="0"/>
          </a:p>
        </p:txBody>
      </p:sp>
      <p:sp>
        <p:nvSpPr>
          <p:cNvPr id="24" name="Text 22"/>
          <p:cNvSpPr/>
          <p:nvPr/>
        </p:nvSpPr>
        <p:spPr>
          <a:xfrm>
            <a:off x="10058400" y="6118889"/>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15</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812800" y="129289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50" kern="0" dirty="0">
                <a:solidFill>
                  <a:srgbClr val="B48CFF"/>
                </a:solidFill>
                <a:latin typeface="Courier Prime" pitchFamily="49" charset="0"/>
                <a:ea typeface="Courier Prime" pitchFamily="49" charset="-122"/>
                <a:cs typeface="Courier Prime" pitchFamily="49" charset="-120"/>
              </a:rPr>
              <a:t>RIESGOS</a:t>
            </a:r>
            <a:endParaRPr lang="en-US" sz="1500" dirty="0"/>
          </a:p>
        </p:txBody>
      </p:sp>
      <p:sp>
        <p:nvSpPr>
          <p:cNvPr id="7" name="Text 5"/>
          <p:cNvSpPr/>
          <p:nvPr>
            <p:ph type="title"/>
          </p:nvPr>
        </p:nvSpPr>
        <p:spPr>
          <a:xfrm>
            <a:off x="812800" y="1686595"/>
            <a:ext cx="10883392" cy="652727"/>
          </a:xfrm>
          <a:prstGeom prst="rect">
            <a:avLst/>
          </a:prstGeom>
          <a:noFill/>
          <a:ln/>
        </p:spPr>
        <p:txBody>
          <a:bodyPr wrap="square" lIns="0" tIns="0" rIns="0" bIns="0" rtlCol="0" anchor="t">
            <a:normAutofit/>
          </a:bodyPr>
          <a:lstStyle/>
          <a:p>
            <a:pPr algn="l" indent="0" marL="0">
              <a:lnSpc>
                <a:spcPts val="4940"/>
              </a:lnSpc>
              <a:buNone/>
            </a:pPr>
            <a:r>
              <a:rPr lang="en-US" sz="5200" b="1" i="0" dirty="0">
                <a:solidFill>
                  <a:srgbClr val="F1E8D6"/>
                </a:solidFill>
                <a:latin typeface="Big Shoulders Display" pitchFamily="34" charset="0"/>
                <a:ea typeface="Big Shoulders Display" pitchFamily="34" charset="-122"/>
                <a:cs typeface="Big Shoulders Display" pitchFamily="34" charset="-120"/>
              </a:rPr>
              <a:t>QUÉ PUEDE FALLAR Y CÓMO LO EVITAMOS</a:t>
            </a:r>
            <a:endParaRPr lang="en-US" sz="5200" dirty="0"/>
          </a:p>
        </p:txBody>
      </p:sp>
      <p:sp>
        <p:nvSpPr>
          <p:cNvPr id="8" name="Shape 6"/>
          <p:cNvSpPr/>
          <p:nvPr/>
        </p:nvSpPr>
        <p:spPr>
          <a:xfrm>
            <a:off x="812800" y="3107668"/>
            <a:ext cx="10566400" cy="0"/>
          </a:xfrm>
          <a:prstGeom prst="line">
            <a:avLst/>
          </a:prstGeom>
          <a:noFill/>
          <a:ln w="12700">
            <a:solidFill>
              <a:srgbClr val="3A3346"/>
            </a:solidFill>
            <a:prstDash val="solid"/>
          </a:ln>
        </p:spPr>
      </p:sp>
      <p:pic>
        <p:nvPicPr>
          <p:cNvPr id="9" name="Image 0" descr="Warning">    </p:cNvPr>
          <p:cNvPicPr>
            <a:picLocks noChangeAspect="1"/>
          </p:cNvPicPr>
          <p:nvPr/>
        </p:nvPicPr>
        <p:blipFill>
          <a:blip r:embed="rId1"/>
          <a:srcRect l="0" r="0" t="0" b="0"/>
          <a:stretch/>
        </p:blipFill>
        <p:spPr>
          <a:xfrm>
            <a:off x="812800" y="2669518"/>
            <a:ext cx="304800" cy="304800"/>
          </a:xfrm>
          <a:prstGeom prst="rect">
            <a:avLst/>
          </a:prstGeom>
        </p:spPr>
      </p:pic>
      <p:sp>
        <p:nvSpPr>
          <p:cNvPr id="10" name="Text 7"/>
          <p:cNvSpPr/>
          <p:nvPr/>
        </p:nvSpPr>
        <p:spPr>
          <a:xfrm>
            <a:off x="1270000" y="2682218"/>
            <a:ext cx="405511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F1E8D6"/>
                </a:solidFill>
                <a:latin typeface="Big Shoulders Display" pitchFamily="34" charset="0"/>
                <a:ea typeface="Big Shoulders Display" pitchFamily="34" charset="-122"/>
                <a:cs typeface="Big Shoulders Display" pitchFamily="34" charset="-120"/>
              </a:rPr>
              <a:t>ETIQUETAR MAL A UNA PERSONA</a:t>
            </a:r>
            <a:endParaRPr lang="en-US" sz="2200" dirty="0"/>
          </a:p>
        </p:txBody>
      </p:sp>
      <p:pic>
        <p:nvPicPr>
          <p:cNvPr id="11" name="Image 1" descr="connector">    </p:cNvPr>
          <p:cNvPicPr>
            <a:picLocks noChangeAspect="1"/>
          </p:cNvPicPr>
          <p:nvPr/>
        </p:nvPicPr>
        <p:blipFill>
          <a:blip r:embed="rId2"/>
          <a:srcRect l="0" r="0" t="0" b="0"/>
          <a:stretch/>
        </p:blipFill>
        <p:spPr>
          <a:xfrm>
            <a:off x="5359400" y="2758418"/>
            <a:ext cx="457200" cy="127000"/>
          </a:xfrm>
          <a:prstGeom prst="rect">
            <a:avLst/>
          </a:prstGeom>
        </p:spPr>
      </p:pic>
      <p:sp>
        <p:nvSpPr>
          <p:cNvPr id="12" name="Text 8"/>
          <p:cNvSpPr/>
          <p:nvPr/>
        </p:nvSpPr>
        <p:spPr>
          <a:xfrm>
            <a:off x="5969000" y="2698093"/>
            <a:ext cx="557250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1E8D6"/>
                </a:solidFill>
                <a:latin typeface="Instrument Sans" pitchFamily="34" charset="0"/>
                <a:ea typeface="Instrument Sans" pitchFamily="34" charset="-122"/>
                <a:cs typeface="Instrument Sans" pitchFamily="34" charset="-120"/>
              </a:rPr>
              <a:t>Casos sin decidir, revisión humana y solo datos agregados</a:t>
            </a:r>
            <a:endParaRPr lang="en-US" sz="1500" dirty="0"/>
          </a:p>
        </p:txBody>
      </p:sp>
      <p:sp>
        <p:nvSpPr>
          <p:cNvPr id="13" name="Shape 9"/>
          <p:cNvSpPr/>
          <p:nvPr/>
        </p:nvSpPr>
        <p:spPr>
          <a:xfrm>
            <a:off x="812800" y="3679168"/>
            <a:ext cx="10566400" cy="0"/>
          </a:xfrm>
          <a:prstGeom prst="line">
            <a:avLst/>
          </a:prstGeom>
          <a:noFill/>
          <a:ln w="12700">
            <a:solidFill>
              <a:srgbClr val="3A3346"/>
            </a:solidFill>
            <a:prstDash val="solid"/>
          </a:ln>
        </p:spPr>
      </p:sp>
      <p:pic>
        <p:nvPicPr>
          <p:cNvPr id="14" name="Image 2" descr="Warning">    </p:cNvPr>
          <p:cNvPicPr>
            <a:picLocks noChangeAspect="1"/>
          </p:cNvPicPr>
          <p:nvPr/>
        </p:nvPicPr>
        <p:blipFill>
          <a:blip r:embed="rId3"/>
          <a:srcRect l="0" r="0" t="0" b="0"/>
          <a:stretch/>
        </p:blipFill>
        <p:spPr>
          <a:xfrm>
            <a:off x="812800" y="3241018"/>
            <a:ext cx="304800" cy="304800"/>
          </a:xfrm>
          <a:prstGeom prst="rect">
            <a:avLst/>
          </a:prstGeom>
        </p:spPr>
      </p:pic>
      <p:sp>
        <p:nvSpPr>
          <p:cNvPr id="15" name="Text 10"/>
          <p:cNvSpPr/>
          <p:nvPr/>
        </p:nvSpPr>
        <p:spPr>
          <a:xfrm>
            <a:off x="1270000" y="3253718"/>
            <a:ext cx="405511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F1E8D6"/>
                </a:solidFill>
                <a:latin typeface="Big Shoulders Display" pitchFamily="34" charset="0"/>
                <a:ea typeface="Big Shoulders Display" pitchFamily="34" charset="-122"/>
                <a:cs typeface="Big Shoulders Display" pitchFamily="34" charset="-120"/>
              </a:rPr>
              <a:t>FALLOS CON CINE MUDO</a:t>
            </a:r>
            <a:endParaRPr lang="en-US" sz="2200" dirty="0"/>
          </a:p>
        </p:txBody>
      </p:sp>
      <p:pic>
        <p:nvPicPr>
          <p:cNvPr id="16" name="Image 3" descr="connector">    </p:cNvPr>
          <p:cNvPicPr>
            <a:picLocks noChangeAspect="1"/>
          </p:cNvPicPr>
          <p:nvPr/>
        </p:nvPicPr>
        <p:blipFill>
          <a:blip r:embed="rId4"/>
          <a:srcRect l="0" r="0" t="0" b="0"/>
          <a:stretch/>
        </p:blipFill>
        <p:spPr>
          <a:xfrm>
            <a:off x="5359400" y="3329918"/>
            <a:ext cx="457200" cy="127000"/>
          </a:xfrm>
          <a:prstGeom prst="rect">
            <a:avLst/>
          </a:prstGeom>
        </p:spPr>
      </p:pic>
      <p:sp>
        <p:nvSpPr>
          <p:cNvPr id="17" name="Text 11"/>
          <p:cNvSpPr/>
          <p:nvPr/>
        </p:nvSpPr>
        <p:spPr>
          <a:xfrm>
            <a:off x="5969000" y="3269593"/>
            <a:ext cx="557250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1E8D6"/>
                </a:solidFill>
                <a:latin typeface="Instrument Sans" pitchFamily="34" charset="0"/>
                <a:ea typeface="Instrument Sans" pitchFamily="34" charset="-122"/>
                <a:cs typeface="Instrument Sans" pitchFamily="34" charset="-120"/>
              </a:rPr>
              <a:t>Evaluar por tipo de película y marcar las dudosas</a:t>
            </a:r>
            <a:endParaRPr lang="en-US" sz="1500" dirty="0"/>
          </a:p>
        </p:txBody>
      </p:sp>
      <p:sp>
        <p:nvSpPr>
          <p:cNvPr id="18" name="Shape 12"/>
          <p:cNvSpPr/>
          <p:nvPr/>
        </p:nvSpPr>
        <p:spPr>
          <a:xfrm>
            <a:off x="812800" y="4250668"/>
            <a:ext cx="10566400" cy="0"/>
          </a:xfrm>
          <a:prstGeom prst="line">
            <a:avLst/>
          </a:prstGeom>
          <a:noFill/>
          <a:ln w="12700">
            <a:solidFill>
              <a:srgbClr val="3A3346"/>
            </a:solidFill>
            <a:prstDash val="solid"/>
          </a:ln>
        </p:spPr>
      </p:sp>
      <p:pic>
        <p:nvPicPr>
          <p:cNvPr id="19" name="Image 4" descr="Warning">    </p:cNvPr>
          <p:cNvPicPr>
            <a:picLocks noChangeAspect="1"/>
          </p:cNvPicPr>
          <p:nvPr/>
        </p:nvPicPr>
        <p:blipFill>
          <a:blip r:embed="rId5"/>
          <a:srcRect l="0" r="0" t="0" b="0"/>
          <a:stretch/>
        </p:blipFill>
        <p:spPr>
          <a:xfrm>
            <a:off x="812800" y="3812518"/>
            <a:ext cx="304800" cy="304800"/>
          </a:xfrm>
          <a:prstGeom prst="rect">
            <a:avLst/>
          </a:prstGeom>
        </p:spPr>
      </p:pic>
      <p:sp>
        <p:nvSpPr>
          <p:cNvPr id="20" name="Text 13"/>
          <p:cNvSpPr/>
          <p:nvPr/>
        </p:nvSpPr>
        <p:spPr>
          <a:xfrm>
            <a:off x="1270000" y="3825218"/>
            <a:ext cx="405511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F1E8D6"/>
                </a:solidFill>
                <a:latin typeface="Big Shoulders Display" pitchFamily="34" charset="0"/>
                <a:ea typeface="Big Shoulders Display" pitchFamily="34" charset="-122"/>
                <a:cs typeface="Big Shoulders Display" pitchFamily="34" charset="-120"/>
              </a:rPr>
              <a:t>QUE SE ESCAPEN MUJERES</a:t>
            </a:r>
            <a:endParaRPr lang="en-US" sz="2200" dirty="0"/>
          </a:p>
        </p:txBody>
      </p:sp>
      <p:pic>
        <p:nvPicPr>
          <p:cNvPr id="21" name="Image 5" descr="connector">    </p:cNvPr>
          <p:cNvPicPr>
            <a:picLocks noChangeAspect="1"/>
          </p:cNvPicPr>
          <p:nvPr/>
        </p:nvPicPr>
        <p:blipFill>
          <a:blip r:embed="rId6"/>
          <a:srcRect l="0" r="0" t="0" b="0"/>
          <a:stretch/>
        </p:blipFill>
        <p:spPr>
          <a:xfrm>
            <a:off x="5359400" y="3901418"/>
            <a:ext cx="457200" cy="127000"/>
          </a:xfrm>
          <a:prstGeom prst="rect">
            <a:avLst/>
          </a:prstGeom>
        </p:spPr>
      </p:pic>
      <p:sp>
        <p:nvSpPr>
          <p:cNvPr id="22" name="Text 14"/>
          <p:cNvSpPr/>
          <p:nvPr/>
        </p:nvSpPr>
        <p:spPr>
          <a:xfrm>
            <a:off x="5969000" y="3841093"/>
            <a:ext cx="557250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1E8D6"/>
                </a:solidFill>
                <a:latin typeface="Instrument Sans" pitchFamily="34" charset="0"/>
                <a:ea typeface="Instrument Sans" pitchFamily="34" charset="-122"/>
                <a:cs typeface="Instrument Sans" pitchFamily="34" charset="-120"/>
              </a:rPr>
              <a:t>Anotar las no detectadas y medirlo por género</a:t>
            </a:r>
            <a:endParaRPr lang="en-US" sz="1500" dirty="0"/>
          </a:p>
        </p:txBody>
      </p:sp>
      <p:sp>
        <p:nvSpPr>
          <p:cNvPr id="23" name="Shape 15"/>
          <p:cNvSpPr/>
          <p:nvPr/>
        </p:nvSpPr>
        <p:spPr>
          <a:xfrm>
            <a:off x="812800" y="4822168"/>
            <a:ext cx="10566400" cy="0"/>
          </a:xfrm>
          <a:prstGeom prst="line">
            <a:avLst/>
          </a:prstGeom>
          <a:noFill/>
          <a:ln w="12700">
            <a:solidFill>
              <a:srgbClr val="3A3346"/>
            </a:solidFill>
            <a:prstDash val="solid"/>
          </a:ln>
        </p:spPr>
      </p:sp>
      <p:pic>
        <p:nvPicPr>
          <p:cNvPr id="24" name="Image 6" descr="Warning">    </p:cNvPr>
          <p:cNvPicPr>
            <a:picLocks noChangeAspect="1"/>
          </p:cNvPicPr>
          <p:nvPr/>
        </p:nvPicPr>
        <p:blipFill>
          <a:blip r:embed="rId7"/>
          <a:srcRect l="0" r="0" t="0" b="0"/>
          <a:stretch/>
        </p:blipFill>
        <p:spPr>
          <a:xfrm>
            <a:off x="812800" y="4384018"/>
            <a:ext cx="304800" cy="304800"/>
          </a:xfrm>
          <a:prstGeom prst="rect">
            <a:avLst/>
          </a:prstGeom>
        </p:spPr>
      </p:pic>
      <p:sp>
        <p:nvSpPr>
          <p:cNvPr id="25" name="Text 16"/>
          <p:cNvSpPr/>
          <p:nvPr/>
        </p:nvSpPr>
        <p:spPr>
          <a:xfrm>
            <a:off x="1270000" y="4396718"/>
            <a:ext cx="405511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F1E8D6"/>
                </a:solidFill>
                <a:latin typeface="Big Shoulders Display" pitchFamily="34" charset="0"/>
                <a:ea typeface="Big Shoulders Display" pitchFamily="34" charset="-122"/>
                <a:cs typeface="Big Shoulders Display" pitchFamily="34" charset="-120"/>
              </a:rPr>
              <a:t>USARLO PARA VIGILAR</a:t>
            </a:r>
            <a:endParaRPr lang="en-US" sz="2200" dirty="0"/>
          </a:p>
        </p:txBody>
      </p:sp>
      <p:pic>
        <p:nvPicPr>
          <p:cNvPr id="26" name="Image 7" descr="connector">    </p:cNvPr>
          <p:cNvPicPr>
            <a:picLocks noChangeAspect="1"/>
          </p:cNvPicPr>
          <p:nvPr/>
        </p:nvPicPr>
        <p:blipFill>
          <a:blip r:embed="rId8"/>
          <a:srcRect l="0" r="0" t="0" b="0"/>
          <a:stretch/>
        </p:blipFill>
        <p:spPr>
          <a:xfrm>
            <a:off x="5359400" y="4472918"/>
            <a:ext cx="457200" cy="127000"/>
          </a:xfrm>
          <a:prstGeom prst="rect">
            <a:avLst/>
          </a:prstGeom>
        </p:spPr>
      </p:pic>
      <p:sp>
        <p:nvSpPr>
          <p:cNvPr id="27" name="Text 17"/>
          <p:cNvSpPr/>
          <p:nvPr/>
        </p:nvSpPr>
        <p:spPr>
          <a:xfrm>
            <a:off x="5969000" y="4412593"/>
            <a:ext cx="557250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1E8D6"/>
                </a:solidFill>
                <a:latin typeface="Instrument Sans" pitchFamily="34" charset="0"/>
                <a:ea typeface="Instrument Sans" pitchFamily="34" charset="-122"/>
                <a:cs typeface="Instrument Sans" pitchFamily="34" charset="-120"/>
              </a:rPr>
              <a:t>Uso previsto documentado; no se guarda ninguna identidad</a:t>
            </a:r>
            <a:endParaRPr lang="en-US" sz="1500" dirty="0"/>
          </a:p>
        </p:txBody>
      </p:sp>
      <p:pic>
        <p:nvPicPr>
          <p:cNvPr id="28" name="Image 8" descr="Warning">    </p:cNvPr>
          <p:cNvPicPr>
            <a:picLocks noChangeAspect="1"/>
          </p:cNvPicPr>
          <p:nvPr/>
        </p:nvPicPr>
        <p:blipFill>
          <a:blip r:embed="rId9"/>
          <a:srcRect l="0" r="0" t="0" b="0"/>
          <a:stretch/>
        </p:blipFill>
        <p:spPr>
          <a:xfrm>
            <a:off x="812800" y="4955518"/>
            <a:ext cx="304800" cy="304800"/>
          </a:xfrm>
          <a:prstGeom prst="rect">
            <a:avLst/>
          </a:prstGeom>
        </p:spPr>
      </p:pic>
      <p:sp>
        <p:nvSpPr>
          <p:cNvPr id="29" name="Text 18"/>
          <p:cNvSpPr/>
          <p:nvPr/>
        </p:nvSpPr>
        <p:spPr>
          <a:xfrm>
            <a:off x="1270000" y="4968218"/>
            <a:ext cx="4055110" cy="304800"/>
          </a:xfrm>
          <a:prstGeom prst="rect">
            <a:avLst/>
          </a:prstGeom>
          <a:noFill/>
          <a:ln/>
        </p:spPr>
        <p:txBody>
          <a:bodyPr wrap="square" lIns="0" tIns="0" rIns="0" bIns="0" rtlCol="0" anchor="t">
            <a:normAutofit/>
          </a:bodyPr>
          <a:lstStyle/>
          <a:p>
            <a:pPr algn="l" indent="0" marL="0">
              <a:lnSpc>
                <a:spcPts val="2200"/>
              </a:lnSpc>
              <a:buNone/>
            </a:pPr>
            <a:r>
              <a:rPr lang="en-US" sz="2200" b="1" dirty="0">
                <a:solidFill>
                  <a:srgbClr val="F1E8D6"/>
                </a:solidFill>
                <a:latin typeface="Big Shoulders Display" pitchFamily="34" charset="0"/>
                <a:ea typeface="Big Shoulders Display" pitchFamily="34" charset="-122"/>
                <a:cs typeface="Big Shoulders Display" pitchFamily="34" charset="-120"/>
              </a:rPr>
              <a:t>LICENCIAS</a:t>
            </a:r>
            <a:endParaRPr lang="en-US" sz="2200" dirty="0"/>
          </a:p>
        </p:txBody>
      </p:sp>
      <p:pic>
        <p:nvPicPr>
          <p:cNvPr id="30" name="Image 9" descr="connector">    </p:cNvPr>
          <p:cNvPicPr>
            <a:picLocks noChangeAspect="1"/>
          </p:cNvPicPr>
          <p:nvPr/>
        </p:nvPicPr>
        <p:blipFill>
          <a:blip r:embed="rId10"/>
          <a:srcRect l="0" r="0" t="0" b="0"/>
          <a:stretch/>
        </p:blipFill>
        <p:spPr>
          <a:xfrm>
            <a:off x="5359400" y="5044418"/>
            <a:ext cx="457200" cy="127000"/>
          </a:xfrm>
          <a:prstGeom prst="rect">
            <a:avLst/>
          </a:prstGeom>
        </p:spPr>
      </p:pic>
      <p:sp>
        <p:nvSpPr>
          <p:cNvPr id="31" name="Text 19"/>
          <p:cNvSpPr/>
          <p:nvPr/>
        </p:nvSpPr>
        <p:spPr>
          <a:xfrm>
            <a:off x="5969000" y="4984093"/>
            <a:ext cx="557250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1E8D6"/>
                </a:solidFill>
                <a:latin typeface="Instrument Sans" pitchFamily="34" charset="0"/>
                <a:ea typeface="Instrument Sans" pitchFamily="34" charset="-122"/>
                <a:cs typeface="Instrument Sans" pitchFamily="34" charset="-120"/>
              </a:rPr>
              <a:t>Licencias de terceros revisadas; no redistribuimos vídeos</a:t>
            </a:r>
            <a:endParaRPr lang="en-US" sz="1500" dirty="0"/>
          </a:p>
        </p:txBody>
      </p:sp>
      <p:sp>
        <p:nvSpPr>
          <p:cNvPr id="32" name="Text 20"/>
          <p:cNvSpPr/>
          <p:nvPr/>
        </p:nvSpPr>
        <p:spPr>
          <a:xfrm>
            <a:off x="812800" y="6118895"/>
            <a:ext cx="78486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ADA’S HEIRS</a:t>
            </a:r>
            <a:endParaRPr lang="en-US" sz="1300" dirty="0"/>
          </a:p>
        </p:txBody>
      </p:sp>
      <p:sp>
        <p:nvSpPr>
          <p:cNvPr id="33" name="Text 21"/>
          <p:cNvSpPr/>
          <p:nvPr/>
        </p:nvSpPr>
        <p:spPr>
          <a:xfrm>
            <a:off x="10058400" y="6118895"/>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16</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812800" y="812800"/>
            <a:ext cx="10883392" cy="277746"/>
          </a:xfrm>
          <a:prstGeom prst="rect">
            <a:avLst/>
          </a:prstGeom>
          <a:noFill/>
          <a:ln/>
        </p:spPr>
        <p:txBody>
          <a:bodyPr wrap="square" lIns="0" tIns="0" rIns="0" bIns="0" rtlCol="0" anchor="t">
            <a:normAutofit/>
          </a:bodyPr>
          <a:lstStyle/>
          <a:p>
            <a:pPr algn="l" indent="0" marL="0">
              <a:lnSpc>
                <a:spcPts val="2021"/>
              </a:lnSpc>
              <a:buNone/>
            </a:pPr>
            <a:r>
              <a:rPr lang="en-US" sz="1444" spc="150" kern="0" dirty="0">
                <a:solidFill>
                  <a:srgbClr val="B48CFF"/>
                </a:solidFill>
                <a:latin typeface="Courier Prime" pitchFamily="49" charset="0"/>
                <a:ea typeface="Courier Prime" pitchFamily="49" charset="-122"/>
                <a:cs typeface="Courier Prime" pitchFamily="49" charset="-120"/>
              </a:rPr>
              <a:t>LO QUE VIMOS</a:t>
            </a:r>
            <a:endParaRPr lang="en-US" sz="1444" dirty="0"/>
          </a:p>
        </p:txBody>
      </p:sp>
      <p:sp>
        <p:nvSpPr>
          <p:cNvPr id="7" name="Text 5"/>
          <p:cNvSpPr/>
          <p:nvPr>
            <p:ph type="title"/>
          </p:nvPr>
        </p:nvSpPr>
        <p:spPr>
          <a:xfrm>
            <a:off x="812800" y="1192150"/>
            <a:ext cx="10883392" cy="618993"/>
          </a:xfrm>
          <a:prstGeom prst="rect">
            <a:avLst/>
          </a:prstGeom>
          <a:noFill/>
          <a:ln/>
        </p:spPr>
        <p:txBody>
          <a:bodyPr wrap="square" lIns="0" tIns="0" rIns="0" bIns="0" rtlCol="0" anchor="t">
            <a:normAutofit/>
          </a:bodyPr>
          <a:lstStyle/>
          <a:p>
            <a:pPr algn="l" indent="0" marL="0">
              <a:lnSpc>
                <a:spcPts val="4662"/>
              </a:lnSpc>
              <a:buNone/>
            </a:pPr>
            <a:r>
              <a:rPr lang="en-US" sz="4908" b="1" i="0" dirty="0">
                <a:solidFill>
                  <a:srgbClr val="F1E8D6"/>
                </a:solidFill>
                <a:latin typeface="Big Shoulders Display" pitchFamily="34" charset="0"/>
                <a:ea typeface="Big Shoulders Display" pitchFamily="34" charset="-122"/>
                <a:cs typeface="Big Shoulders Display" pitchFamily="34" charset="-120"/>
              </a:rPr>
              <a:t>NINGUNA LLEGA A LA MITAD DE LA PANTALLA</a:t>
            </a:r>
            <a:endParaRPr lang="en-US" sz="4908" dirty="0"/>
          </a:p>
        </p:txBody>
      </p:sp>
      <p:sp>
        <p:nvSpPr>
          <p:cNvPr id="8" name="Shape 6"/>
          <p:cNvSpPr/>
          <p:nvPr/>
        </p:nvSpPr>
        <p:spPr>
          <a:xfrm>
            <a:off x="812800" y="2023145"/>
            <a:ext cx="203200" cy="203200"/>
          </a:xfrm>
          <a:prstGeom prst="rect">
            <a:avLst/>
          </a:prstGeom>
          <a:solidFill>
            <a:srgbClr val="B48CFF"/>
          </a:solidFill>
          <a:ln/>
        </p:spPr>
      </p:sp>
      <p:sp>
        <p:nvSpPr>
          <p:cNvPr id="9" name="Text 7"/>
          <p:cNvSpPr/>
          <p:nvPr/>
        </p:nvSpPr>
        <p:spPr>
          <a:xfrm>
            <a:off x="1092200" y="2000324"/>
            <a:ext cx="2227461"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6"/>
                </a:solidFill>
                <a:latin typeface="Instrument Sans" pitchFamily="34" charset="0"/>
                <a:ea typeface="Instrument Sans" pitchFamily="34" charset="-122"/>
                <a:cs typeface="Instrument Sans" pitchFamily="34" charset="-120"/>
              </a:rPr>
              <a:t>% del tiempo en pantalla</a:t>
            </a:r>
            <a:endParaRPr lang="en-US" sz="1400" dirty="0"/>
          </a:p>
        </p:txBody>
      </p:sp>
      <p:sp>
        <p:nvSpPr>
          <p:cNvPr id="10" name="Shape 8"/>
          <p:cNvSpPr/>
          <p:nvPr/>
        </p:nvSpPr>
        <p:spPr>
          <a:xfrm>
            <a:off x="3319661" y="2023145"/>
            <a:ext cx="203200" cy="203200"/>
          </a:xfrm>
          <a:prstGeom prst="rect">
            <a:avLst/>
          </a:prstGeom>
          <a:solidFill>
            <a:srgbClr val="F1E8D6"/>
          </a:solidFill>
          <a:ln/>
        </p:spPr>
      </p:sp>
      <p:sp>
        <p:nvSpPr>
          <p:cNvPr id="11" name="Text 9"/>
          <p:cNvSpPr/>
          <p:nvPr/>
        </p:nvSpPr>
        <p:spPr>
          <a:xfrm>
            <a:off x="3599061" y="2000324"/>
            <a:ext cx="216630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6"/>
                </a:solidFill>
                <a:latin typeface="Instrument Sans" pitchFamily="34" charset="0"/>
                <a:ea typeface="Instrument Sans" pitchFamily="34" charset="-122"/>
                <a:cs typeface="Instrument Sans" pitchFamily="34" charset="-120"/>
              </a:rPr>
              <a:t>% de las protagonistas</a:t>
            </a:r>
            <a:endParaRPr lang="en-US" sz="1400" dirty="0"/>
          </a:p>
        </p:txBody>
      </p:sp>
      <p:sp>
        <p:nvSpPr>
          <p:cNvPr id="12" name="Text 10"/>
          <p:cNvSpPr/>
          <p:nvPr/>
        </p:nvSpPr>
        <p:spPr>
          <a:xfrm>
            <a:off x="812800" y="2477827"/>
            <a:ext cx="6200394"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E8D6"/>
                </a:solidFill>
                <a:latin typeface="Big Shoulders Display" pitchFamily="34" charset="0"/>
                <a:ea typeface="Big Shoulders Display" pitchFamily="34" charset="-122"/>
                <a:cs typeface="Big Shoulders Display" pitchFamily="34" charset="-120"/>
              </a:rPr>
              <a:t>THE GENERAL (1927)</a:t>
            </a:r>
            <a:endParaRPr lang="en-US" sz="2400" dirty="0"/>
          </a:p>
        </p:txBody>
      </p:sp>
      <p:sp>
        <p:nvSpPr>
          <p:cNvPr id="13" name="Shape 11"/>
          <p:cNvSpPr/>
          <p:nvPr/>
        </p:nvSpPr>
        <p:spPr>
          <a:xfrm>
            <a:off x="812800" y="2852477"/>
            <a:ext cx="1047750" cy="254000"/>
          </a:xfrm>
          <a:prstGeom prst="rect">
            <a:avLst/>
          </a:prstGeom>
          <a:solidFill>
            <a:srgbClr val="B48CFF"/>
          </a:solidFill>
          <a:ln/>
        </p:spPr>
      </p:sp>
      <p:sp>
        <p:nvSpPr>
          <p:cNvPr id="14" name="Text 12"/>
          <p:cNvSpPr/>
          <p:nvPr/>
        </p:nvSpPr>
        <p:spPr>
          <a:xfrm>
            <a:off x="1962150" y="2846127"/>
            <a:ext cx="54832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E8D6"/>
                </a:solidFill>
                <a:latin typeface="Courier Prime" pitchFamily="49" charset="0"/>
                <a:ea typeface="Courier Prime" pitchFamily="49" charset="-122"/>
                <a:cs typeface="Courier Prime" pitchFamily="49" charset="-120"/>
              </a:rPr>
              <a:t>18 %</a:t>
            </a:r>
            <a:endParaRPr lang="en-US" sz="1500" dirty="0"/>
          </a:p>
        </p:txBody>
      </p:sp>
      <p:sp>
        <p:nvSpPr>
          <p:cNvPr id="15" name="Shape 13"/>
          <p:cNvSpPr/>
          <p:nvPr/>
        </p:nvSpPr>
        <p:spPr>
          <a:xfrm>
            <a:off x="812800" y="3182677"/>
            <a:ext cx="1212850" cy="254000"/>
          </a:xfrm>
          <a:prstGeom prst="rect">
            <a:avLst/>
          </a:prstGeom>
          <a:solidFill>
            <a:srgbClr val="F1E8D6"/>
          </a:solidFill>
          <a:ln/>
        </p:spPr>
      </p:sp>
      <p:sp>
        <p:nvSpPr>
          <p:cNvPr id="16" name="Text 14"/>
          <p:cNvSpPr/>
          <p:nvPr/>
        </p:nvSpPr>
        <p:spPr>
          <a:xfrm>
            <a:off x="2127250" y="3176327"/>
            <a:ext cx="54832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E8D6"/>
                </a:solidFill>
                <a:latin typeface="Courier Prime" pitchFamily="49" charset="0"/>
                <a:ea typeface="Courier Prime" pitchFamily="49" charset="-122"/>
                <a:cs typeface="Courier Prime" pitchFamily="49" charset="-120"/>
              </a:rPr>
              <a:t>21 %</a:t>
            </a:r>
            <a:endParaRPr lang="en-US" sz="1500" dirty="0"/>
          </a:p>
        </p:txBody>
      </p:sp>
      <p:sp>
        <p:nvSpPr>
          <p:cNvPr id="17" name="Text 15"/>
          <p:cNvSpPr/>
          <p:nvPr/>
        </p:nvSpPr>
        <p:spPr>
          <a:xfrm>
            <a:off x="812800" y="3671627"/>
            <a:ext cx="6200394"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E8D6"/>
                </a:solidFill>
                <a:latin typeface="Big Shoulders Display" pitchFamily="34" charset="0"/>
                <a:ea typeface="Big Shoulders Display" pitchFamily="34" charset="-122"/>
                <a:cs typeface="Big Shoulders Display" pitchFamily="34" charset="-120"/>
              </a:rPr>
              <a:t>A STAR IS BORN (1937)</a:t>
            </a:r>
            <a:endParaRPr lang="en-US" sz="2400" dirty="0"/>
          </a:p>
        </p:txBody>
      </p:sp>
      <p:sp>
        <p:nvSpPr>
          <p:cNvPr id="18" name="Shape 16"/>
          <p:cNvSpPr/>
          <p:nvPr/>
        </p:nvSpPr>
        <p:spPr>
          <a:xfrm>
            <a:off x="812800" y="4046277"/>
            <a:ext cx="1778000" cy="254000"/>
          </a:xfrm>
          <a:prstGeom prst="rect">
            <a:avLst/>
          </a:prstGeom>
          <a:solidFill>
            <a:srgbClr val="B48CFF"/>
          </a:solidFill>
          <a:ln/>
        </p:spPr>
      </p:sp>
      <p:sp>
        <p:nvSpPr>
          <p:cNvPr id="19" name="Text 17"/>
          <p:cNvSpPr/>
          <p:nvPr/>
        </p:nvSpPr>
        <p:spPr>
          <a:xfrm>
            <a:off x="2692400" y="4039927"/>
            <a:ext cx="54832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E8D6"/>
                </a:solidFill>
                <a:latin typeface="Courier Prime" pitchFamily="49" charset="0"/>
                <a:ea typeface="Courier Prime" pitchFamily="49" charset="-122"/>
                <a:cs typeface="Courier Prime" pitchFamily="49" charset="-120"/>
              </a:rPr>
              <a:t>31 %</a:t>
            </a:r>
            <a:endParaRPr lang="en-US" sz="1500" dirty="0"/>
          </a:p>
        </p:txBody>
      </p:sp>
      <p:sp>
        <p:nvSpPr>
          <p:cNvPr id="20" name="Shape 18"/>
          <p:cNvSpPr/>
          <p:nvPr/>
        </p:nvSpPr>
        <p:spPr>
          <a:xfrm>
            <a:off x="812800" y="4376477"/>
            <a:ext cx="2762250" cy="254000"/>
          </a:xfrm>
          <a:prstGeom prst="rect">
            <a:avLst/>
          </a:prstGeom>
          <a:solidFill>
            <a:srgbClr val="F1E8D6"/>
          </a:solidFill>
          <a:ln/>
        </p:spPr>
      </p:sp>
      <p:sp>
        <p:nvSpPr>
          <p:cNvPr id="21" name="Text 19"/>
          <p:cNvSpPr/>
          <p:nvPr/>
        </p:nvSpPr>
        <p:spPr>
          <a:xfrm>
            <a:off x="3676650" y="4370127"/>
            <a:ext cx="54832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E8D6"/>
                </a:solidFill>
                <a:latin typeface="Courier Prime" pitchFamily="49" charset="0"/>
                <a:ea typeface="Courier Prime" pitchFamily="49" charset="-122"/>
                <a:cs typeface="Courier Prime" pitchFamily="49" charset="-120"/>
              </a:rPr>
              <a:t>48 %</a:t>
            </a:r>
            <a:endParaRPr lang="en-US" sz="1500" dirty="0"/>
          </a:p>
        </p:txBody>
      </p:sp>
      <p:sp>
        <p:nvSpPr>
          <p:cNvPr id="22" name="Text 20"/>
          <p:cNvSpPr/>
          <p:nvPr/>
        </p:nvSpPr>
        <p:spPr>
          <a:xfrm>
            <a:off x="812800" y="4865427"/>
            <a:ext cx="6200394" cy="330200"/>
          </a:xfrm>
          <a:prstGeom prst="rect">
            <a:avLst/>
          </a:prstGeom>
          <a:noFill/>
          <a:ln/>
        </p:spPr>
        <p:txBody>
          <a:bodyPr wrap="square" lIns="0" tIns="0" rIns="0" bIns="0" rtlCol="0" anchor="t">
            <a:normAutofit/>
          </a:bodyPr>
          <a:lstStyle/>
          <a:p>
            <a:pPr algn="l" indent="0" marL="0">
              <a:lnSpc>
                <a:spcPts val="2400"/>
              </a:lnSpc>
              <a:buNone/>
            </a:pPr>
            <a:r>
              <a:rPr lang="en-US" sz="2400" b="1" dirty="0">
                <a:solidFill>
                  <a:srgbClr val="F1E8D6"/>
                </a:solidFill>
                <a:latin typeface="Big Shoulders Display" pitchFamily="34" charset="0"/>
                <a:ea typeface="Big Shoulders Display" pitchFamily="34" charset="-122"/>
                <a:cs typeface="Big Shoulders Display" pitchFamily="34" charset="-120"/>
              </a:rPr>
              <a:t>DETOUR (1945)</a:t>
            </a:r>
            <a:endParaRPr lang="en-US" sz="2400" dirty="0"/>
          </a:p>
        </p:txBody>
      </p:sp>
      <p:sp>
        <p:nvSpPr>
          <p:cNvPr id="23" name="Shape 21"/>
          <p:cNvSpPr/>
          <p:nvPr/>
        </p:nvSpPr>
        <p:spPr>
          <a:xfrm>
            <a:off x="812800" y="5240077"/>
            <a:ext cx="1752600" cy="254000"/>
          </a:xfrm>
          <a:prstGeom prst="rect">
            <a:avLst/>
          </a:prstGeom>
          <a:solidFill>
            <a:srgbClr val="B48CFF"/>
          </a:solidFill>
          <a:ln/>
        </p:spPr>
      </p:sp>
      <p:sp>
        <p:nvSpPr>
          <p:cNvPr id="24" name="Text 22"/>
          <p:cNvSpPr/>
          <p:nvPr/>
        </p:nvSpPr>
        <p:spPr>
          <a:xfrm>
            <a:off x="2667000" y="5233727"/>
            <a:ext cx="54832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E8D6"/>
                </a:solidFill>
                <a:latin typeface="Courier Prime" pitchFamily="49" charset="0"/>
                <a:ea typeface="Courier Prime" pitchFamily="49" charset="-122"/>
                <a:cs typeface="Courier Prime" pitchFamily="49" charset="-120"/>
              </a:rPr>
              <a:t>31 %</a:t>
            </a:r>
            <a:endParaRPr lang="en-US" sz="1500" dirty="0"/>
          </a:p>
        </p:txBody>
      </p:sp>
      <p:sp>
        <p:nvSpPr>
          <p:cNvPr id="25" name="Shape 23"/>
          <p:cNvSpPr/>
          <p:nvPr/>
        </p:nvSpPr>
        <p:spPr>
          <a:xfrm>
            <a:off x="812800" y="5570277"/>
            <a:ext cx="1403350" cy="254000"/>
          </a:xfrm>
          <a:prstGeom prst="rect">
            <a:avLst/>
          </a:prstGeom>
          <a:solidFill>
            <a:srgbClr val="F1E8D6"/>
          </a:solidFill>
          <a:ln/>
        </p:spPr>
      </p:sp>
      <p:sp>
        <p:nvSpPr>
          <p:cNvPr id="26" name="Text 24"/>
          <p:cNvSpPr/>
          <p:nvPr/>
        </p:nvSpPr>
        <p:spPr>
          <a:xfrm>
            <a:off x="2317750" y="5563927"/>
            <a:ext cx="54832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1E8D6"/>
                </a:solidFill>
                <a:latin typeface="Courier Prime" pitchFamily="49" charset="0"/>
                <a:ea typeface="Courier Prime" pitchFamily="49" charset="-122"/>
                <a:cs typeface="Courier Prime" pitchFamily="49" charset="-120"/>
              </a:rPr>
              <a:t>25 %</a:t>
            </a:r>
            <a:endParaRPr lang="en-US" sz="1500" dirty="0"/>
          </a:p>
        </p:txBody>
      </p:sp>
      <p:sp>
        <p:nvSpPr>
          <p:cNvPr id="27" name="Shape 25"/>
          <p:cNvSpPr/>
          <p:nvPr/>
        </p:nvSpPr>
        <p:spPr>
          <a:xfrm>
            <a:off x="7461250" y="2455007"/>
            <a:ext cx="0" cy="1209014"/>
          </a:xfrm>
          <a:prstGeom prst="line">
            <a:avLst/>
          </a:prstGeom>
          <a:noFill/>
          <a:ln w="38100">
            <a:solidFill>
              <a:srgbClr val="B48CFF"/>
            </a:solidFill>
            <a:prstDash val="solid"/>
          </a:ln>
        </p:spPr>
      </p:sp>
      <p:sp>
        <p:nvSpPr>
          <p:cNvPr id="28" name="Text 26"/>
          <p:cNvSpPr/>
          <p:nvPr/>
        </p:nvSpPr>
        <p:spPr>
          <a:xfrm>
            <a:off x="7658100" y="2455007"/>
            <a:ext cx="383273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B48CFF"/>
                </a:solidFill>
                <a:latin typeface="Big Shoulders Display" pitchFamily="34" charset="0"/>
                <a:ea typeface="Big Shoulders Display" pitchFamily="34" charset="-122"/>
                <a:cs typeface="Big Shoulders Display" pitchFamily="34" charset="-120"/>
              </a:rPr>
              <a:t>18–31 %</a:t>
            </a:r>
            <a:endParaRPr lang="en-US" sz="4800" dirty="0"/>
          </a:p>
        </p:txBody>
      </p:sp>
      <p:sp>
        <p:nvSpPr>
          <p:cNvPr id="29" name="Text 27"/>
          <p:cNvSpPr/>
          <p:nvPr/>
        </p:nvSpPr>
        <p:spPr>
          <a:xfrm>
            <a:off x="7658100" y="3115407"/>
            <a:ext cx="3832733" cy="574014"/>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E8D6"/>
                </a:solidFill>
                <a:latin typeface="Instrument Sans" pitchFamily="34" charset="0"/>
                <a:ea typeface="Instrument Sans" pitchFamily="34" charset="-122"/>
                <a:cs typeface="Instrument Sans" pitchFamily="34" charset="-120"/>
              </a:rPr>
              <a:t>del tiempo en pantalla es de mujeres en las tres películas.</a:t>
            </a:r>
            <a:endParaRPr lang="en-US" sz="1600" dirty="0"/>
          </a:p>
        </p:txBody>
      </p:sp>
      <p:sp>
        <p:nvSpPr>
          <p:cNvPr id="30" name="Shape 28"/>
          <p:cNvSpPr/>
          <p:nvPr/>
        </p:nvSpPr>
        <p:spPr>
          <a:xfrm>
            <a:off x="7461250" y="3892624"/>
            <a:ext cx="0" cy="1483320"/>
          </a:xfrm>
          <a:prstGeom prst="line">
            <a:avLst/>
          </a:prstGeom>
          <a:noFill/>
          <a:ln w="38100">
            <a:solidFill>
              <a:srgbClr val="B48CFF"/>
            </a:solidFill>
            <a:prstDash val="solid"/>
          </a:ln>
        </p:spPr>
      </p:sp>
      <p:sp>
        <p:nvSpPr>
          <p:cNvPr id="31" name="Text 29"/>
          <p:cNvSpPr/>
          <p:nvPr/>
        </p:nvSpPr>
        <p:spPr>
          <a:xfrm>
            <a:off x="7658100" y="3892624"/>
            <a:ext cx="383273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B48CFF"/>
                </a:solidFill>
                <a:latin typeface="Big Shoulders Display" pitchFamily="34" charset="0"/>
                <a:ea typeface="Big Shoulders Display" pitchFamily="34" charset="-122"/>
                <a:cs typeface="Big Shoulders Display" pitchFamily="34" charset="-120"/>
              </a:rPr>
              <a:t>48 %</a:t>
            </a:r>
            <a:endParaRPr lang="en-US" sz="4800" dirty="0"/>
          </a:p>
        </p:txBody>
      </p:sp>
      <p:sp>
        <p:nvSpPr>
          <p:cNvPr id="32" name="Text 30"/>
          <p:cNvSpPr/>
          <p:nvPr/>
        </p:nvSpPr>
        <p:spPr>
          <a:xfrm>
            <a:off x="7658100" y="4553024"/>
            <a:ext cx="3832733" cy="8483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E8D6"/>
                </a:solidFill>
                <a:latin typeface="Instrument Sans" pitchFamily="34" charset="0"/>
                <a:ea typeface="Instrument Sans" pitchFamily="34" charset="-122"/>
                <a:cs typeface="Instrument Sans" pitchFamily="34" charset="-120"/>
              </a:rPr>
              <a:t>de protagonistas solo cuando la historia gira en torno a una mujer, como en </a:t>
            </a:r>
            <a:r>
              <a:rPr lang="en-US" sz="1600" i="1" dirty="0">
                <a:solidFill>
                  <a:srgbClr val="F1E8D6"/>
                </a:solidFill>
                <a:latin typeface="Instrument Sans" pitchFamily="34" charset="0"/>
                <a:ea typeface="Instrument Sans" pitchFamily="34" charset="-122"/>
                <a:cs typeface="Instrument Sans" pitchFamily="34" charset="-120"/>
              </a:rPr>
              <a:t>A Star Is Born</a:t>
            </a:r>
            <a:r>
              <a:rPr lang="en-US" sz="1600" dirty="0">
                <a:solidFill>
                  <a:srgbClr val="F1E8D6"/>
                </a:solidFill>
                <a:latin typeface="Instrument Sans" pitchFamily="34" charset="0"/>
                <a:ea typeface="Instrument Sans" pitchFamily="34" charset="-122"/>
                <a:cs typeface="Instrument Sans" pitchFamily="34" charset="-120"/>
              </a:rPr>
              <a:t>.</a:t>
            </a:r>
            <a:endParaRPr lang="en-US" sz="1600" dirty="0"/>
          </a:p>
        </p:txBody>
      </p:sp>
      <p:sp>
        <p:nvSpPr>
          <p:cNvPr id="33" name="Text 31"/>
          <p:cNvSpPr/>
          <p:nvPr/>
        </p:nvSpPr>
        <p:spPr>
          <a:xfrm>
            <a:off x="812800" y="6118895"/>
            <a:ext cx="9156700" cy="256514"/>
          </a:xfrm>
          <a:prstGeom prst="rect">
            <a:avLst/>
          </a:prstGeom>
          <a:noFill/>
          <a:ln/>
        </p:spPr>
        <p:txBody>
          <a:bodyPr wrap="none" lIns="0" tIns="0" rIns="0" bIns="0" rtlCol="0" anchor="t">
            <a:normAutofit/>
          </a:bodyPr>
          <a:lstStyle/>
          <a:p>
            <a:pPr algn="l" indent="0" marL="0">
              <a:lnSpc>
                <a:spcPts val="1820"/>
              </a:lnSpc>
              <a:buNone/>
            </a:pPr>
            <a:r>
              <a:rPr lang="en-US" sz="1300" spc="100" kern="0" dirty="0">
                <a:solidFill>
                  <a:srgbClr val="F1E8D6"/>
                </a:solidFill>
                <a:latin typeface="Courier Prime" pitchFamily="49" charset="0"/>
                <a:ea typeface="Courier Prime" pitchFamily="49" charset="-122"/>
                <a:cs typeface="Courier Prime" pitchFamily="49" charset="-120"/>
              </a:rPr>
              <a:t>GÉNERO PERCIBIDO, SIN REVISIÓN HUMANA · DEMO DE ADA’S HEIRS</a:t>
            </a:r>
            <a:endParaRPr lang="en-US" sz="1300" dirty="0"/>
          </a:p>
        </p:txBody>
      </p:sp>
      <p:sp>
        <p:nvSpPr>
          <p:cNvPr id="34" name="Text 32"/>
          <p:cNvSpPr/>
          <p:nvPr/>
        </p:nvSpPr>
        <p:spPr>
          <a:xfrm>
            <a:off x="10058400" y="6118895"/>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17</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C0A"/>
        </a:solidFill>
      </p:bgPr>
    </p:bg>
    <p:spTree>
      <p:nvGrpSpPr>
        <p:cNvPr id="1" name=""/>
        <p:cNvGrpSpPr/>
        <p:nvPr/>
      </p:nvGrpSpPr>
      <p:grpSpPr>
        <a:xfrm>
          <a:off x="0" y="0"/>
          <a:ext cx="0" cy="0"/>
          <a:chOff x="0" y="0"/>
          <a:chExt cx="0" cy="0"/>
        </a:xfrm>
      </p:grpSpPr>
      <p:sp>
        <p:nvSpPr>
          <p:cNvPr id="2" name="Shape 0"/>
          <p:cNvSpPr/>
          <p:nvPr/>
        </p:nvSpPr>
        <p:spPr>
          <a:xfrm>
            <a:off x="0" y="0"/>
            <a:ext cx="12192000" cy="355600"/>
          </a:xfrm>
          <a:prstGeom prst="rect">
            <a:avLst/>
          </a:prstGeom>
          <a:solidFill>
            <a:srgbClr val="050504"/>
          </a:solidFill>
          <a:ln/>
        </p:spPr>
      </p:sp>
      <p:sp>
        <p:nvSpPr>
          <p:cNvPr id="3" name="Shape 1"/>
          <p:cNvSpPr/>
          <p:nvPr/>
        </p:nvSpPr>
        <p:spPr>
          <a:xfrm>
            <a:off x="0" y="1143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4" name="Shape 2"/>
          <p:cNvSpPr/>
          <p:nvPr/>
        </p:nvSpPr>
        <p:spPr>
          <a:xfrm>
            <a:off x="0" y="6502400"/>
            <a:ext cx="12192000" cy="355600"/>
          </a:xfrm>
          <a:prstGeom prst="rect">
            <a:avLst/>
          </a:prstGeom>
          <a:solidFill>
            <a:srgbClr val="050504"/>
          </a:solidFill>
          <a:ln/>
        </p:spPr>
      </p:sp>
      <p:sp>
        <p:nvSpPr>
          <p:cNvPr id="5" name="Shape 3"/>
          <p:cNvSpPr/>
          <p:nvPr/>
        </p:nvSpPr>
        <p:spPr>
          <a:xfrm>
            <a:off x="0" y="6616700"/>
            <a:ext cx="12192000" cy="127000"/>
          </a:xfrm>
          <a:prstGeom prst="rect">
            <a:avLst/>
          </a:prstGeom>
          <a:gradFill rotWithShape="1">
            <a:gsLst>
              <a:gs pos="0">
                <a:srgbClr val="3A3346"/>
              </a:gs>
              <a:gs pos="43750">
                <a:srgbClr val="3A3346"/>
              </a:gs>
              <a:gs pos="43750">
                <a:srgbClr val="050504"/>
              </a:gs>
              <a:gs pos="100000">
                <a:srgbClr val="050504"/>
              </a:gs>
            </a:gsLst>
            <a:lin ang="0" scaled="0"/>
          </a:gradFill>
          <a:ln/>
        </p:spPr>
      </p:sp>
      <p:sp>
        <p:nvSpPr>
          <p:cNvPr id="6" name="Text 4"/>
          <p:cNvSpPr/>
          <p:nvPr/>
        </p:nvSpPr>
        <p:spPr>
          <a:xfrm>
            <a:off x="812800" y="112653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spc="150" kern="0" dirty="0">
                <a:solidFill>
                  <a:srgbClr val="B48CFF"/>
                </a:solidFill>
                <a:latin typeface="Courier Prime" pitchFamily="49" charset="0"/>
                <a:ea typeface="Courier Prime" pitchFamily="49" charset="-122"/>
                <a:cs typeface="Courier Prime" pitchFamily="49" charset="-120"/>
              </a:rPr>
              <a:t>CONCLUSIONES</a:t>
            </a:r>
            <a:endParaRPr lang="en-US" sz="1500" dirty="0"/>
          </a:p>
        </p:txBody>
      </p:sp>
      <p:sp>
        <p:nvSpPr>
          <p:cNvPr id="7" name="Text 5"/>
          <p:cNvSpPr/>
          <p:nvPr>
            <p:ph type="title"/>
          </p:nvPr>
        </p:nvSpPr>
        <p:spPr>
          <a:xfrm>
            <a:off x="812800" y="1520230"/>
            <a:ext cx="11379200" cy="652727"/>
          </a:xfrm>
          <a:prstGeom prst="rect">
            <a:avLst/>
          </a:prstGeom>
          <a:noFill/>
          <a:ln/>
        </p:spPr>
        <p:txBody>
          <a:bodyPr wrap="square" lIns="0" tIns="0" rIns="0" bIns="0" rtlCol="0" anchor="t">
            <a:normAutofit/>
          </a:bodyPr>
          <a:lstStyle/>
          <a:p>
            <a:pPr algn="l" indent="0" marL="0">
              <a:lnSpc>
                <a:spcPts val="4940"/>
              </a:lnSpc>
              <a:buNone/>
            </a:pPr>
            <a:r>
              <a:rPr lang="en-US" sz="5200" b="1" i="0" dirty="0">
                <a:solidFill>
                  <a:srgbClr val="F1E8D6"/>
                </a:solidFill>
                <a:latin typeface="Big Shoulders Display" pitchFamily="34" charset="0"/>
                <a:ea typeface="Big Shoulders Display" pitchFamily="34" charset="-122"/>
                <a:cs typeface="Big Shoulders Display" pitchFamily="34" charset="-120"/>
              </a:rPr>
              <a:t>PARA QUE CUENTEN, HAY QUE CONTARLAS BIEN</a:t>
            </a:r>
            <a:endParaRPr lang="en-US" sz="5200" dirty="0"/>
          </a:p>
        </p:txBody>
      </p:sp>
      <p:sp>
        <p:nvSpPr>
          <p:cNvPr id="8" name="Shape 6"/>
          <p:cNvSpPr/>
          <p:nvPr/>
        </p:nvSpPr>
        <p:spPr>
          <a:xfrm>
            <a:off x="812800" y="2522215"/>
            <a:ext cx="3285067" cy="0"/>
          </a:xfrm>
          <a:prstGeom prst="line">
            <a:avLst/>
          </a:prstGeom>
          <a:noFill/>
          <a:ln w="38100">
            <a:solidFill>
              <a:srgbClr val="B48CFF"/>
            </a:solidFill>
            <a:prstDash val="solid"/>
          </a:ln>
        </p:spPr>
      </p:sp>
      <p:sp>
        <p:nvSpPr>
          <p:cNvPr id="9" name="Text 7"/>
          <p:cNvSpPr/>
          <p:nvPr/>
        </p:nvSpPr>
        <p:spPr>
          <a:xfrm>
            <a:off x="812800" y="2719065"/>
            <a:ext cx="3383619"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1E8D6"/>
                </a:solidFill>
                <a:latin typeface="Big Shoulders Display" pitchFamily="34" charset="0"/>
                <a:ea typeface="Big Shoulders Display" pitchFamily="34" charset="-122"/>
                <a:cs typeface="Big Shoulders Display" pitchFamily="34" charset="-120"/>
              </a:rPr>
              <a:t>LO QUE VIMOS</a:t>
            </a:r>
            <a:endParaRPr lang="en-US" sz="2800" dirty="0"/>
          </a:p>
        </p:txBody>
      </p:sp>
      <p:sp>
        <p:nvSpPr>
          <p:cNvPr id="10" name="Text 8"/>
          <p:cNvSpPr/>
          <p:nvPr/>
        </p:nvSpPr>
        <p:spPr>
          <a:xfrm>
            <a:off x="812800" y="3176265"/>
            <a:ext cx="3383619" cy="1396934"/>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E8D6"/>
                </a:solidFill>
                <a:latin typeface="Instrument Sans" pitchFamily="34" charset="0"/>
                <a:ea typeface="Instrument Sans" pitchFamily="34" charset="-122"/>
                <a:cs typeface="Instrument Sans" pitchFamily="34" charset="-120"/>
              </a:rPr>
              <a:t>Las mujeres ocupan entre el 18 % y el 31 % del tiempo en pantalla, y solo se acercan a la mitad de las protagonistas cuando la historia gira en torno a una mujer.</a:t>
            </a:r>
            <a:endParaRPr lang="en-US" sz="1600" dirty="0"/>
          </a:p>
        </p:txBody>
      </p:sp>
      <p:sp>
        <p:nvSpPr>
          <p:cNvPr id="11" name="Shape 9"/>
          <p:cNvSpPr/>
          <p:nvPr/>
        </p:nvSpPr>
        <p:spPr>
          <a:xfrm>
            <a:off x="4453467" y="2522215"/>
            <a:ext cx="3285067" cy="0"/>
          </a:xfrm>
          <a:prstGeom prst="line">
            <a:avLst/>
          </a:prstGeom>
          <a:noFill/>
          <a:ln w="38100">
            <a:solidFill>
              <a:srgbClr val="B48CFF"/>
            </a:solidFill>
            <a:prstDash val="solid"/>
          </a:ln>
        </p:spPr>
      </p:sp>
      <p:sp>
        <p:nvSpPr>
          <p:cNvPr id="12" name="Text 10"/>
          <p:cNvSpPr/>
          <p:nvPr/>
        </p:nvSpPr>
        <p:spPr>
          <a:xfrm>
            <a:off x="4453467" y="2719065"/>
            <a:ext cx="3383619"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1E8D6"/>
                </a:solidFill>
                <a:latin typeface="Big Shoulders Display" pitchFamily="34" charset="0"/>
                <a:ea typeface="Big Shoulders Display" pitchFamily="34" charset="-122"/>
                <a:cs typeface="Big Shoulders Display" pitchFamily="34" charset="-120"/>
              </a:rPr>
              <a:t>LO QUE APRENDIMOS</a:t>
            </a:r>
            <a:endParaRPr lang="en-US" sz="2800" dirty="0"/>
          </a:p>
        </p:txBody>
      </p:sp>
      <p:sp>
        <p:nvSpPr>
          <p:cNvPr id="13" name="Text 11"/>
          <p:cNvSpPr/>
          <p:nvPr/>
        </p:nvSpPr>
        <p:spPr>
          <a:xfrm>
            <a:off x="4453467" y="3176265"/>
            <a:ext cx="3383619" cy="1396934"/>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E8D6"/>
                </a:solidFill>
                <a:latin typeface="Instrument Sans" pitchFamily="34" charset="0"/>
                <a:ea typeface="Instrument Sans" pitchFamily="34" charset="-122"/>
                <a:cs typeface="Instrument Sans" pitchFamily="34" charset="-120"/>
              </a:rPr>
              <a:t>Medir a las mujeres en pantalla es posible con IA abierta, pero el sistema tiene que saber dudar: el cine mudo engaña al modelo y la revisión humana es imprescindible.</a:t>
            </a:r>
            <a:endParaRPr lang="en-US" sz="1600" dirty="0"/>
          </a:p>
        </p:txBody>
      </p:sp>
      <p:sp>
        <p:nvSpPr>
          <p:cNvPr id="14" name="Shape 12"/>
          <p:cNvSpPr/>
          <p:nvPr/>
        </p:nvSpPr>
        <p:spPr>
          <a:xfrm>
            <a:off x="8094134" y="2522215"/>
            <a:ext cx="3285067" cy="0"/>
          </a:xfrm>
          <a:prstGeom prst="line">
            <a:avLst/>
          </a:prstGeom>
          <a:noFill/>
          <a:ln w="38100">
            <a:solidFill>
              <a:srgbClr val="B48CFF"/>
            </a:solidFill>
            <a:prstDash val="solid"/>
          </a:ln>
        </p:spPr>
      </p:sp>
      <p:sp>
        <p:nvSpPr>
          <p:cNvPr id="15" name="Text 13"/>
          <p:cNvSpPr/>
          <p:nvPr/>
        </p:nvSpPr>
        <p:spPr>
          <a:xfrm>
            <a:off x="8094134" y="2719065"/>
            <a:ext cx="3383619"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1E8D6"/>
                </a:solidFill>
                <a:latin typeface="Big Shoulders Display" pitchFamily="34" charset="0"/>
                <a:ea typeface="Big Shoulders Display" pitchFamily="34" charset="-122"/>
                <a:cs typeface="Big Shoulders Display" pitchFamily="34" charset="-120"/>
              </a:rPr>
              <a:t>CON MÁS TIEMPO</a:t>
            </a:r>
            <a:endParaRPr lang="en-US" sz="2800" dirty="0"/>
          </a:p>
        </p:txBody>
      </p:sp>
      <p:sp>
        <p:nvSpPr>
          <p:cNvPr id="16" name="Text 14"/>
          <p:cNvSpPr/>
          <p:nvPr/>
        </p:nvSpPr>
        <p:spPr>
          <a:xfrm>
            <a:off x="8094134" y="3176265"/>
            <a:ext cx="3383619" cy="16712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1E8D6"/>
                </a:solidFill>
                <a:latin typeface="Instrument Sans" pitchFamily="34" charset="0"/>
                <a:ea typeface="Instrument Sans" pitchFamily="34" charset="-122"/>
                <a:cs typeface="Instrument Sans" pitchFamily="34" charset="-120"/>
              </a:rPr>
              <a:t>Reentrenar el modelo con miles de fotogramas de cine clásico etiquetados a mano, para que deje menos mujeres sin decidir y no se pierda las que aparecen de espaldas o en segundo plano.</a:t>
            </a:r>
            <a:endParaRPr lang="en-US" sz="1600" dirty="0"/>
          </a:p>
        </p:txBody>
      </p:sp>
      <p:sp>
        <p:nvSpPr>
          <p:cNvPr id="17" name="Text 15"/>
          <p:cNvSpPr/>
          <p:nvPr/>
        </p:nvSpPr>
        <p:spPr>
          <a:xfrm>
            <a:off x="654304" y="5177706"/>
            <a:ext cx="10883392" cy="274307"/>
          </a:xfrm>
          <a:prstGeom prst="rect">
            <a:avLst/>
          </a:prstGeom>
          <a:noFill/>
          <a:ln/>
        </p:spPr>
        <p:txBody>
          <a:bodyPr wrap="square" lIns="0" tIns="0" rIns="0" bIns="0" rtlCol="0" anchor="t">
            <a:normAutofit/>
          </a:bodyPr>
          <a:lstStyle/>
          <a:p>
            <a:pPr algn="ctr" indent="0" marL="0">
              <a:lnSpc>
                <a:spcPts val="1960"/>
              </a:lnSpc>
              <a:buNone/>
            </a:pPr>
            <a:r>
              <a:rPr lang="en-US" sz="1400" spc="100" kern="0" dirty="0">
                <a:solidFill>
                  <a:srgbClr val="F1E8D6"/>
                </a:solidFill>
                <a:latin typeface="Courier Prime" pitchFamily="49" charset="0"/>
                <a:ea typeface="Courier Prime" pitchFamily="49" charset="-122"/>
                <a:cs typeface="Courier Prime" pitchFamily="49" charset="-120"/>
              </a:rPr>
              <a:t>KYARA GAMARRA VIDELA · JUDITH CARALT RICO · LUNA OSPINA LOAIZA</a:t>
            </a:r>
            <a:endParaRPr lang="en-US" sz="1400" dirty="0"/>
          </a:p>
        </p:txBody>
      </p:sp>
      <p:sp>
        <p:nvSpPr>
          <p:cNvPr id="18" name="Text 16"/>
          <p:cNvSpPr/>
          <p:nvPr/>
        </p:nvSpPr>
        <p:spPr>
          <a:xfrm>
            <a:off x="10058400" y="6118895"/>
            <a:ext cx="1320800" cy="256514"/>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B48CFF"/>
                </a:solidFill>
                <a:latin typeface="Courier Prime" pitchFamily="49" charset="0"/>
                <a:ea typeface="Courier Prime" pitchFamily="49" charset="-122"/>
                <a:cs typeface="Courier Prime" pitchFamily="49" charset="-120"/>
              </a:rPr>
              <a:t>FIN</a:t>
            </a:r>
            <a:endParaRPr lang="en-US" sz="1300" dirty="0"/>
          </a:p>
        </p:txBody>
      </p:sp>
    </p:spTree>
  </p:cSld>
  <p:clrMapOvr>
    <a:masterClrMapping/>
  </p:clrMapOvr>
</p:sld>
</file>

<file path=ppt/theme/theme1.xml><?xml version="1.0" encoding="utf-8"?>
<a:theme xmlns:a="http://schemas.openxmlformats.org/drawingml/2006/main" name="Ada’s Heirs — Reto Mujeres por la IA Abierta">
  <a:themeElements>
    <a:clrScheme name="Ada’s Heirs — Reto Mujeres por la IA Abierta">
      <a:dk1>
        <a:srgbClr val="0D0C0A"/>
      </a:dk1>
      <a:lt1>
        <a:srgbClr val="F1E8D6"/>
      </a:lt1>
      <a:dk2>
        <a:srgbClr val="24221E"/>
      </a:dk2>
      <a:lt2>
        <a:srgbClr val="B8B1A3"/>
      </a:lt2>
      <a:accent1>
        <a:srgbClr val="B48CFF"/>
      </a:accent1>
      <a:accent2>
        <a:srgbClr val="3A3346"/>
      </a:accent2>
      <a:accent3>
        <a:srgbClr val="9AA0A6"/>
      </a:accent3>
      <a:accent4>
        <a:srgbClr val="969084"/>
      </a:accent4>
      <a:accent5>
        <a:srgbClr val="746F66"/>
      </a:accent5>
      <a:accent6>
        <a:srgbClr val="514E47"/>
      </a:accent6>
      <a:hlink>
        <a:srgbClr val="0563C1"/>
      </a:hlink>
      <a:folHlink>
        <a:srgbClr val="954F72"/>
      </a:folHlink>
    </a:clrScheme>
    <a:fontScheme name="Ada’s Heirs — Reto Mujeres por la IA Abierta">
      <a:majorFont>
        <a:latin typeface="Big Shoulder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urier Prim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Ada’s Heirs — Reto Mujeres por la IA Abierta</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Instrument Sans
Copyright 2022 The Instrument Sans Project Authors (https://github.com/Instrument/instrument-sans)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Courier Prime
Copyright 2015 The Courier Prime Project Authors (https://github.com/quoteunquoteapps/CourierPrime).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2026-10-30T01:30:48Z</dcterms:created>
  <dcterms:modified xsi:type="dcterms:W3CDTF">2026-10-30T01:30:48Z</dcterms:modified>
</cp:coreProperties>
</file>